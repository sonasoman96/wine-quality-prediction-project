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18"/>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x="18288000" cy="10287000"/>
  <p:notesSz cx="6858000" cy="9144000"/>
  <p:embeddedFontLst>
    <p:embeddedFont>
      <p:font typeface="Crimson Pro Bold" charset="1" panose="00000000000000000000"/>
      <p:regular r:id="rId21"/>
    </p:embeddedFont>
    <p:embeddedFont>
      <p:font typeface="Open Sans" charset="1" panose="00000000000000000000"/>
      <p:regular r:id="rId23"/>
    </p:embeddedFont>
    <p:embeddedFont>
      <p:font typeface="Canva Sans Bold" charset="1" panose="020B0803030501040103"/>
      <p:regular r:id="rId26"/>
    </p:embeddedFont>
    <p:embeddedFont>
      <p:font typeface="Open Sans Bold" charset="1" panose="00000000000000000000"/>
      <p:regular r:id="rId29"/>
    </p:embeddedFont>
    <p:embeddedFont>
      <p:font typeface="Open Sans Bold Italics" charset="1" panose="00000000000000000000"/>
      <p:regular r:id="rId3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notesMasters/notesMaster1.xml" Type="http://schemas.openxmlformats.org/officeDocument/2006/relationships/notesMaster"/><Relationship Id="rId19" Target="theme/theme2.xml" Type="http://schemas.openxmlformats.org/officeDocument/2006/relationships/theme"/><Relationship Id="rId2" Target="presProps.xml" Type="http://schemas.openxmlformats.org/officeDocument/2006/relationships/presProps"/><Relationship Id="rId20" Target="notesSlides/notesSlide1.xml" Type="http://schemas.openxmlformats.org/officeDocument/2006/relationships/notesSlide"/><Relationship Id="rId21" Target="fonts/font21.fntdata" Type="http://schemas.openxmlformats.org/officeDocument/2006/relationships/font"/><Relationship Id="rId22" Target="notesSlides/notesSlide2.xml" Type="http://schemas.openxmlformats.org/officeDocument/2006/relationships/notesSlide"/><Relationship Id="rId23" Target="fonts/font23.fntdata" Type="http://schemas.openxmlformats.org/officeDocument/2006/relationships/font"/><Relationship Id="rId24" Target="notesSlides/notesSlide3.xml" Type="http://schemas.openxmlformats.org/officeDocument/2006/relationships/notesSlide"/><Relationship Id="rId25" Target="notesSlides/notesSlide4.xml" Type="http://schemas.openxmlformats.org/officeDocument/2006/relationships/notesSlide"/><Relationship Id="rId26" Target="fonts/font26.fntdata" Type="http://schemas.openxmlformats.org/officeDocument/2006/relationships/font"/><Relationship Id="rId27" Target="notesSlides/notesSlide5.xml" Type="http://schemas.openxmlformats.org/officeDocument/2006/relationships/notesSlide"/><Relationship Id="rId28" Target="notesSlides/notesSlide6.xml" Type="http://schemas.openxmlformats.org/officeDocument/2006/relationships/notesSlide"/><Relationship Id="rId29" Target="fonts/font29.fntdata" Type="http://schemas.openxmlformats.org/officeDocument/2006/relationships/font"/><Relationship Id="rId3" Target="viewProps.xml" Type="http://schemas.openxmlformats.org/officeDocument/2006/relationships/viewProps"/><Relationship Id="rId30" Target="notesSlides/notesSlide7.xml" Type="http://schemas.openxmlformats.org/officeDocument/2006/relationships/notesSlide"/><Relationship Id="rId31" Target="fonts/font31.fntdata" Type="http://schemas.openxmlformats.org/officeDocument/2006/relationships/font"/><Relationship Id="rId32" Target="notesSlides/notesSlide8.xml" Type="http://schemas.openxmlformats.org/officeDocument/2006/relationships/notesSlide"/><Relationship Id="rId33" Target="notesSlides/notesSlide9.xml" Type="http://schemas.openxmlformats.org/officeDocument/2006/relationships/notesSlide"/><Relationship Id="rId34" Target="notesSlides/notesSlide10.xml" Type="http://schemas.openxmlformats.org/officeDocument/2006/relationships/notesSlide"/><Relationship Id="rId35" Target="notesSlides/notesSlide11.xml" Type="http://schemas.openxmlformats.org/officeDocument/2006/relationships/notesSlide"/><Relationship Id="rId36" Target="notesSlides/notesSlide12.xml" Type="http://schemas.openxmlformats.org/officeDocument/2006/relationships/notesSlide"/><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1</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2</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3</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4</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5</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6</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7</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8</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9</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10</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11</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12</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1.png" Type="http://schemas.openxmlformats.org/officeDocument/2006/relationships/image"/><Relationship Id="rId4" Target="../media/image2.svg" Type="http://schemas.openxmlformats.org/officeDocument/2006/relationships/image"/><Relationship Id="rId5" Target="../media/image3.png" Type="http://schemas.openxmlformats.org/officeDocument/2006/relationships/image"/><Relationship Id="rId6" Target="../media/image4.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5.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3.png" Type="http://schemas.openxmlformats.org/officeDocument/2006/relationships/image"/><Relationship Id="rId11" Target="../media/image14.svg" Type="http://schemas.openxmlformats.org/officeDocument/2006/relationships/image"/><Relationship Id="rId2" Target="../notesSlides/notesSlide5.xml" Type="http://schemas.openxmlformats.org/officeDocument/2006/relationships/notesSlide"/><Relationship Id="rId3" Target="../media/image6.pn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 Id="rId6" Target="../media/image9.png" Type="http://schemas.openxmlformats.org/officeDocument/2006/relationships/image"/><Relationship Id="rId7" Target="../media/image10.svg" Type="http://schemas.openxmlformats.org/officeDocument/2006/relationships/image"/><Relationship Id="rId8" Target="../media/image11.png" Type="http://schemas.openxmlformats.org/officeDocument/2006/relationships/image"/><Relationship Id="rId9" Target="../media/image12.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15.png" Type="http://schemas.openxmlformats.org/officeDocument/2006/relationships/image"/><Relationship Id="rId4" Target="../media/image16.svg" Type="http://schemas.openxmlformats.org/officeDocument/2006/relationships/image"/><Relationship Id="rId5" Target="../media/image17.png" Type="http://schemas.openxmlformats.org/officeDocument/2006/relationships/image"/><Relationship Id="rId6" Target="../media/image18.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19.png" Type="http://schemas.openxmlformats.org/officeDocument/2006/relationships/image"/><Relationship Id="rId4" Target="../media/image20.png" Type="http://schemas.openxmlformats.org/officeDocument/2006/relationships/image"/><Relationship Id="rId5" Target="../media/image21.png" Type="http://schemas.openxmlformats.org/officeDocument/2006/relationships/image"/><Relationship Id="rId6" Target="../media/image22.png" Type="http://schemas.openxmlformats.org/officeDocument/2006/relationships/image"/><Relationship Id="rId7" Target="../media/image23.png" Type="http://schemas.openxmlformats.org/officeDocument/2006/relationships/image"/><Relationship Id="rId8" Target="../media/image24.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 Id="rId3" Target="../media/image25.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 Id="rId3" Target="../media/image26.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0.xml" Type="http://schemas.openxmlformats.org/officeDocument/2006/relationships/notesSlide"/><Relationship Id="rId3" Target="../media/image27.png" Type="http://schemas.openxmlformats.org/officeDocument/2006/relationships/image"/><Relationship Id="rId4" Target="../media/image28.svg" Type="http://schemas.openxmlformats.org/officeDocument/2006/relationships/image"/><Relationship Id="rId5" Target="../media/image29.png" Type="http://schemas.openxmlformats.org/officeDocument/2006/relationships/image"/><Relationship Id="rId6" Target="../media/image30.svg" Type="http://schemas.openxmlformats.org/officeDocument/2006/relationships/image"/><Relationship Id="rId7" Target="../media/image31.png" Type="http://schemas.openxmlformats.org/officeDocument/2006/relationships/image"/><Relationship Id="rId8" Target="../media/image32.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1.xml" Type="http://schemas.openxmlformats.org/officeDocument/2006/relationships/notesSlide"/><Relationship Id="rId3" Target="../media/image33.png" Type="http://schemas.openxmlformats.org/officeDocument/2006/relationships/image"/><Relationship Id="rId4" Target="../media/image34.svg" Type="http://schemas.openxmlformats.org/officeDocument/2006/relationships/image"/><Relationship Id="rId5" Target="../media/image35.png" Type="http://schemas.openxmlformats.org/officeDocument/2006/relationships/image"/><Relationship Id="rId6" Target="../media/image36.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2.xml" Type="http://schemas.openxmlformats.org/officeDocument/2006/relationships/notesSlide"/></Relationships>
</file>

<file path=ppt/slides/slide1.xml><?xml version="1.0" encoding="utf-8"?>
<p:sld xmlns:p="http://schemas.openxmlformats.org/presentationml/2006/main" xmlns:a="http://schemas.openxmlformats.org/drawingml/2006/main">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0" y="0"/>
            <a:ext cx="18301811" cy="10295001"/>
            <a:chOff x="0" y="0"/>
            <a:chExt cx="24402415" cy="13726668"/>
          </a:xfrm>
        </p:grpSpPr>
        <p:sp>
          <p:nvSpPr>
            <p:cNvPr name="Freeform 3" id="3"/>
            <p:cNvSpPr/>
            <p:nvPr/>
          </p:nvSpPr>
          <p:spPr>
            <a:xfrm flipH="false" flipV="false" rot="0">
              <a:off x="0" y="0"/>
              <a:ext cx="24402414" cy="13726668"/>
            </a:xfrm>
            <a:custGeom>
              <a:avLst/>
              <a:gdLst/>
              <a:ahLst/>
              <a:cxnLst/>
              <a:rect r="r" b="b" t="t" l="l"/>
              <a:pathLst>
                <a:path h="13726668" w="24402414">
                  <a:moveTo>
                    <a:pt x="0" y="0"/>
                  </a:moveTo>
                  <a:lnTo>
                    <a:pt x="24402414" y="0"/>
                  </a:lnTo>
                  <a:lnTo>
                    <a:pt x="24402414" y="13726668"/>
                  </a:lnTo>
                  <a:lnTo>
                    <a:pt x="0" y="13726668"/>
                  </a:lnTo>
                  <a:close/>
                </a:path>
              </a:pathLst>
            </a:custGeom>
            <a:solidFill>
              <a:srgbClr val="F7EDE9"/>
            </a:solidFill>
          </p:spPr>
        </p:sp>
      </p:grpSp>
      <p:grpSp>
        <p:nvGrpSpPr>
          <p:cNvPr name="Group 4" id="4"/>
          <p:cNvGrpSpPr/>
          <p:nvPr/>
        </p:nvGrpSpPr>
        <p:grpSpPr>
          <a:xfrm rot="0">
            <a:off x="0" y="0"/>
            <a:ext cx="18301811" cy="10295001"/>
            <a:chOff x="0" y="0"/>
            <a:chExt cx="24402415" cy="13726668"/>
          </a:xfrm>
        </p:grpSpPr>
        <p:sp>
          <p:nvSpPr>
            <p:cNvPr name="Freeform 5" id="5"/>
            <p:cNvSpPr/>
            <p:nvPr/>
          </p:nvSpPr>
          <p:spPr>
            <a:xfrm flipH="false" flipV="false" rot="0">
              <a:off x="0" y="0"/>
              <a:ext cx="24402414" cy="13726668"/>
            </a:xfrm>
            <a:custGeom>
              <a:avLst/>
              <a:gdLst/>
              <a:ahLst/>
              <a:cxnLst/>
              <a:rect r="r" b="b" t="t" l="l"/>
              <a:pathLst>
                <a:path h="13726668" w="24402414">
                  <a:moveTo>
                    <a:pt x="0" y="0"/>
                  </a:moveTo>
                  <a:lnTo>
                    <a:pt x="24402414" y="0"/>
                  </a:lnTo>
                  <a:lnTo>
                    <a:pt x="24402414" y="13726668"/>
                  </a:lnTo>
                  <a:lnTo>
                    <a:pt x="0" y="13726668"/>
                  </a:lnTo>
                  <a:close/>
                </a:path>
              </a:pathLst>
            </a:custGeom>
            <a:solidFill>
              <a:srgbClr val="5E1024"/>
            </a:solidFill>
          </p:spPr>
        </p:sp>
      </p:grpSp>
      <p:sp>
        <p:nvSpPr>
          <p:cNvPr name="TextBox 6" id="6"/>
          <p:cNvSpPr txBox="true"/>
          <p:nvPr/>
        </p:nvSpPr>
        <p:spPr>
          <a:xfrm rot="0">
            <a:off x="3685842" y="3961552"/>
            <a:ext cx="10930166" cy="1318974"/>
          </a:xfrm>
          <a:prstGeom prst="rect">
            <a:avLst/>
          </a:prstGeom>
        </p:spPr>
        <p:txBody>
          <a:bodyPr anchor="t" rtlCol="false" tIns="0" lIns="0" bIns="0" rIns="0">
            <a:spAutoFit/>
          </a:bodyPr>
          <a:lstStyle/>
          <a:p>
            <a:pPr algn="ctr">
              <a:lnSpc>
                <a:spcPts val="9554"/>
              </a:lnSpc>
            </a:pPr>
            <a:r>
              <a:rPr lang="en-US" sz="7655" b="true">
                <a:solidFill>
                  <a:srgbClr val="C9A227"/>
                </a:solidFill>
                <a:latin typeface="Crimson Pro Bold"/>
                <a:ea typeface="Crimson Pro Bold"/>
                <a:cs typeface="Crimson Pro Bold"/>
                <a:sym typeface="Crimson Pro Bold"/>
              </a:rPr>
              <a:t>Wine Quality Prediction</a:t>
            </a:r>
          </a:p>
        </p:txBody>
      </p:sp>
      <p:sp>
        <p:nvSpPr>
          <p:cNvPr name="TextBox 7" id="7"/>
          <p:cNvSpPr txBox="true"/>
          <p:nvPr/>
        </p:nvSpPr>
        <p:spPr>
          <a:xfrm rot="0">
            <a:off x="6434385" y="5648916"/>
            <a:ext cx="5433060" cy="589178"/>
          </a:xfrm>
          <a:prstGeom prst="rect">
            <a:avLst/>
          </a:prstGeom>
        </p:spPr>
        <p:txBody>
          <a:bodyPr anchor="t" rtlCol="false" tIns="0" lIns="0" bIns="0" rIns="0">
            <a:spAutoFit/>
          </a:bodyPr>
          <a:lstStyle/>
          <a:p>
            <a:pPr algn="ctr">
              <a:lnSpc>
                <a:spcPts val="4120"/>
              </a:lnSpc>
            </a:pPr>
            <a:r>
              <a:rPr lang="en-US" sz="3302" b="true">
                <a:solidFill>
                  <a:srgbClr val="FFFCFA"/>
                </a:solidFill>
                <a:latin typeface="Crimson Pro Bold"/>
                <a:ea typeface="Crimson Pro Bold"/>
                <a:cs typeface="Crimson Pro Bold"/>
                <a:sym typeface="Crimson Pro Bold"/>
              </a:rPr>
              <a:t>AI/ML Internship Project</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0" y="0"/>
            <a:ext cx="18301811" cy="10295001"/>
            <a:chOff x="0" y="0"/>
            <a:chExt cx="24402415" cy="13726668"/>
          </a:xfrm>
        </p:grpSpPr>
        <p:sp>
          <p:nvSpPr>
            <p:cNvPr name="Freeform 3" id="3"/>
            <p:cNvSpPr/>
            <p:nvPr/>
          </p:nvSpPr>
          <p:spPr>
            <a:xfrm flipH="false" flipV="false" rot="0">
              <a:off x="0" y="0"/>
              <a:ext cx="24402414" cy="13726668"/>
            </a:xfrm>
            <a:custGeom>
              <a:avLst/>
              <a:gdLst/>
              <a:ahLst/>
              <a:cxnLst/>
              <a:rect r="r" b="b" t="t" l="l"/>
              <a:pathLst>
                <a:path h="13726668" w="24402414">
                  <a:moveTo>
                    <a:pt x="0" y="0"/>
                  </a:moveTo>
                  <a:lnTo>
                    <a:pt x="24402414" y="0"/>
                  </a:lnTo>
                  <a:lnTo>
                    <a:pt x="24402414" y="13726668"/>
                  </a:lnTo>
                  <a:lnTo>
                    <a:pt x="0" y="13726668"/>
                  </a:lnTo>
                  <a:close/>
                </a:path>
              </a:pathLst>
            </a:custGeom>
            <a:solidFill>
              <a:srgbClr val="F7EDE9"/>
            </a:solidFill>
          </p:spPr>
        </p:sp>
      </p:grpSp>
      <p:grpSp>
        <p:nvGrpSpPr>
          <p:cNvPr name="Group 4" id="4"/>
          <p:cNvGrpSpPr/>
          <p:nvPr/>
        </p:nvGrpSpPr>
        <p:grpSpPr>
          <a:xfrm rot="0">
            <a:off x="0" y="0"/>
            <a:ext cx="18301811" cy="10295001"/>
            <a:chOff x="0" y="0"/>
            <a:chExt cx="24402415" cy="13726668"/>
          </a:xfrm>
        </p:grpSpPr>
        <p:sp>
          <p:nvSpPr>
            <p:cNvPr name="Freeform 5" id="5"/>
            <p:cNvSpPr/>
            <p:nvPr/>
          </p:nvSpPr>
          <p:spPr>
            <a:xfrm flipH="false" flipV="false" rot="0">
              <a:off x="0" y="0"/>
              <a:ext cx="24402414" cy="13726668"/>
            </a:xfrm>
            <a:custGeom>
              <a:avLst/>
              <a:gdLst/>
              <a:ahLst/>
              <a:cxnLst/>
              <a:rect r="r" b="b" t="t" l="l"/>
              <a:pathLst>
                <a:path h="13726668" w="24402414">
                  <a:moveTo>
                    <a:pt x="0" y="0"/>
                  </a:moveTo>
                  <a:lnTo>
                    <a:pt x="24402414" y="0"/>
                  </a:lnTo>
                  <a:lnTo>
                    <a:pt x="24402414" y="13726668"/>
                  </a:lnTo>
                  <a:lnTo>
                    <a:pt x="0" y="13726668"/>
                  </a:lnTo>
                  <a:close/>
                </a:path>
              </a:pathLst>
            </a:custGeom>
            <a:solidFill>
              <a:srgbClr val="5E1024"/>
            </a:solidFill>
          </p:spPr>
        </p:sp>
      </p:grpSp>
      <p:sp>
        <p:nvSpPr>
          <p:cNvPr name="TextBox 6" id="6"/>
          <p:cNvSpPr txBox="true"/>
          <p:nvPr/>
        </p:nvSpPr>
        <p:spPr>
          <a:xfrm rot="0">
            <a:off x="5146500" y="950938"/>
            <a:ext cx="8008696" cy="981913"/>
          </a:xfrm>
          <a:prstGeom prst="rect">
            <a:avLst/>
          </a:prstGeom>
        </p:spPr>
        <p:txBody>
          <a:bodyPr anchor="t" rtlCol="false" tIns="0" lIns="0" bIns="0" rIns="0">
            <a:spAutoFit/>
          </a:bodyPr>
          <a:lstStyle/>
          <a:p>
            <a:pPr algn="ctr">
              <a:lnSpc>
                <a:spcPts val="6930"/>
              </a:lnSpc>
            </a:pPr>
            <a:r>
              <a:rPr lang="en-US" sz="5553" b="true">
                <a:solidFill>
                  <a:srgbClr val="C9A227"/>
                </a:solidFill>
                <a:latin typeface="Crimson Pro Bold"/>
                <a:ea typeface="Crimson Pro Bold"/>
                <a:cs typeface="Crimson Pro Bold"/>
                <a:sym typeface="Crimson Pro Bold"/>
              </a:rPr>
              <a:t>Project Team</a:t>
            </a:r>
          </a:p>
        </p:txBody>
      </p:sp>
      <p:sp>
        <p:nvSpPr>
          <p:cNvPr name="Freeform 7" id="7"/>
          <p:cNvSpPr/>
          <p:nvPr/>
        </p:nvSpPr>
        <p:spPr>
          <a:xfrm flipH="false" flipV="false" rot="0">
            <a:off x="984647" y="2491997"/>
            <a:ext cx="16332527" cy="3543310"/>
          </a:xfrm>
          <a:custGeom>
            <a:avLst/>
            <a:gdLst/>
            <a:ahLst/>
            <a:cxnLst/>
            <a:rect r="r" b="b" t="t" l="l"/>
            <a:pathLst>
              <a:path h="3543310" w="16332527">
                <a:moveTo>
                  <a:pt x="0" y="0"/>
                </a:moveTo>
                <a:lnTo>
                  <a:pt x="16332527" y="0"/>
                </a:lnTo>
                <a:lnTo>
                  <a:pt x="16332527" y="3543310"/>
                </a:lnTo>
                <a:lnTo>
                  <a:pt x="0" y="354331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8" id="8"/>
          <p:cNvSpPr txBox="true"/>
          <p:nvPr/>
        </p:nvSpPr>
        <p:spPr>
          <a:xfrm rot="0">
            <a:off x="1286256" y="2736456"/>
            <a:ext cx="3546729" cy="500405"/>
          </a:xfrm>
          <a:prstGeom prst="rect">
            <a:avLst/>
          </a:prstGeom>
        </p:spPr>
        <p:txBody>
          <a:bodyPr anchor="t" rtlCol="false" tIns="0" lIns="0" bIns="0" rIns="0">
            <a:spAutoFit/>
          </a:bodyPr>
          <a:lstStyle/>
          <a:p>
            <a:pPr algn="l">
              <a:lnSpc>
                <a:spcPts val="3465"/>
              </a:lnSpc>
            </a:pPr>
            <a:r>
              <a:rPr lang="en-US" sz="2776" b="true">
                <a:solidFill>
                  <a:srgbClr val="000000"/>
                </a:solidFill>
                <a:latin typeface="Crimson Pro Bold"/>
                <a:ea typeface="Crimson Pro Bold"/>
                <a:cs typeface="Crimson Pro Bold"/>
                <a:sym typeface="Crimson Pro Bold"/>
              </a:rPr>
              <a:t>Presented by</a:t>
            </a:r>
          </a:p>
        </p:txBody>
      </p:sp>
      <p:sp>
        <p:nvSpPr>
          <p:cNvPr name="TextBox 9" id="9"/>
          <p:cNvSpPr txBox="true"/>
          <p:nvPr/>
        </p:nvSpPr>
        <p:spPr>
          <a:xfrm rot="0">
            <a:off x="1286256" y="3254702"/>
            <a:ext cx="15729337" cy="2479062"/>
          </a:xfrm>
          <a:prstGeom prst="rect">
            <a:avLst/>
          </a:prstGeom>
        </p:spPr>
        <p:txBody>
          <a:bodyPr anchor="t" rtlCol="false" tIns="0" lIns="0" bIns="0" rIns="0">
            <a:spAutoFit/>
          </a:bodyPr>
          <a:lstStyle/>
          <a:p>
            <a:pPr algn="l">
              <a:lnSpc>
                <a:spcPts val="3474"/>
              </a:lnSpc>
            </a:pPr>
            <a:r>
              <a:rPr lang="en-US" sz="2176">
                <a:solidFill>
                  <a:srgbClr val="000000"/>
                </a:solidFill>
                <a:latin typeface="Open Sans"/>
                <a:ea typeface="Open Sans"/>
                <a:cs typeface="Open Sans"/>
                <a:sym typeface="Open Sans"/>
              </a:rPr>
              <a:t>Nandana R Nath</a:t>
            </a:r>
          </a:p>
          <a:p>
            <a:pPr algn="l">
              <a:lnSpc>
                <a:spcPts val="3474"/>
              </a:lnSpc>
            </a:pPr>
            <a:r>
              <a:rPr lang="en-US" sz="2176">
                <a:solidFill>
                  <a:srgbClr val="000000"/>
                </a:solidFill>
                <a:latin typeface="Open Sans"/>
                <a:ea typeface="Open Sans"/>
                <a:cs typeface="Open Sans"/>
                <a:sym typeface="Open Sans"/>
              </a:rPr>
              <a:t>Sona Soman</a:t>
            </a:r>
          </a:p>
          <a:p>
            <a:pPr algn="l">
              <a:lnSpc>
                <a:spcPts val="3474"/>
              </a:lnSpc>
            </a:pPr>
            <a:r>
              <a:rPr lang="en-US" sz="2176">
                <a:solidFill>
                  <a:srgbClr val="000000"/>
                </a:solidFill>
                <a:latin typeface="Open Sans"/>
                <a:ea typeface="Open Sans"/>
                <a:cs typeface="Open Sans"/>
                <a:sym typeface="Open Sans"/>
              </a:rPr>
              <a:t>Teresa Sam Panicker</a:t>
            </a:r>
          </a:p>
          <a:p>
            <a:pPr algn="l">
              <a:lnSpc>
                <a:spcPts val="3474"/>
              </a:lnSpc>
            </a:pPr>
            <a:r>
              <a:rPr lang="en-US" sz="2176">
                <a:solidFill>
                  <a:srgbClr val="000000"/>
                </a:solidFill>
                <a:latin typeface="Open Sans"/>
                <a:ea typeface="Open Sans"/>
                <a:cs typeface="Open Sans"/>
                <a:sym typeface="Open Sans"/>
              </a:rPr>
              <a:t>Vaishnavi Jayakumar</a:t>
            </a:r>
          </a:p>
        </p:txBody>
      </p:sp>
      <p:sp>
        <p:nvSpPr>
          <p:cNvPr name="Freeform 10" id="10"/>
          <p:cNvSpPr/>
          <p:nvPr/>
        </p:nvSpPr>
        <p:spPr>
          <a:xfrm flipH="false" flipV="false" rot="0">
            <a:off x="984647" y="6337887"/>
            <a:ext cx="16332527" cy="2919136"/>
          </a:xfrm>
          <a:custGeom>
            <a:avLst/>
            <a:gdLst/>
            <a:ahLst/>
            <a:cxnLst/>
            <a:rect r="r" b="b" t="t" l="l"/>
            <a:pathLst>
              <a:path h="2919136" w="16332527">
                <a:moveTo>
                  <a:pt x="0" y="0"/>
                </a:moveTo>
                <a:lnTo>
                  <a:pt x="16332527" y="0"/>
                </a:lnTo>
                <a:lnTo>
                  <a:pt x="16332527" y="2919137"/>
                </a:lnTo>
                <a:lnTo>
                  <a:pt x="0" y="291913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1" id="11"/>
          <p:cNvSpPr txBox="true"/>
          <p:nvPr/>
        </p:nvSpPr>
        <p:spPr>
          <a:xfrm rot="0">
            <a:off x="1286256" y="6582346"/>
            <a:ext cx="3546729" cy="500405"/>
          </a:xfrm>
          <a:prstGeom prst="rect">
            <a:avLst/>
          </a:prstGeom>
        </p:spPr>
        <p:txBody>
          <a:bodyPr anchor="t" rtlCol="false" tIns="0" lIns="0" bIns="0" rIns="0">
            <a:spAutoFit/>
          </a:bodyPr>
          <a:lstStyle/>
          <a:p>
            <a:pPr algn="l">
              <a:lnSpc>
                <a:spcPts val="3465"/>
              </a:lnSpc>
            </a:pPr>
            <a:r>
              <a:rPr lang="en-US" sz="2776" b="true">
                <a:solidFill>
                  <a:srgbClr val="000000"/>
                </a:solidFill>
                <a:latin typeface="Crimson Pro Bold"/>
                <a:ea typeface="Crimson Pro Bold"/>
                <a:cs typeface="Crimson Pro Bold"/>
                <a:sym typeface="Crimson Pro Bold"/>
              </a:rPr>
              <a:t>Under the Guidance of</a:t>
            </a:r>
          </a:p>
        </p:txBody>
      </p:sp>
      <p:sp>
        <p:nvSpPr>
          <p:cNvPr name="TextBox 12" id="12"/>
          <p:cNvSpPr txBox="true"/>
          <p:nvPr/>
        </p:nvSpPr>
        <p:spPr>
          <a:xfrm rot="0">
            <a:off x="1286256" y="7100602"/>
            <a:ext cx="15729337" cy="1854832"/>
          </a:xfrm>
          <a:prstGeom prst="rect">
            <a:avLst/>
          </a:prstGeom>
        </p:spPr>
        <p:txBody>
          <a:bodyPr anchor="t" rtlCol="false" tIns="0" lIns="0" bIns="0" rIns="0">
            <a:spAutoFit/>
          </a:bodyPr>
          <a:lstStyle/>
          <a:p>
            <a:pPr algn="l">
              <a:lnSpc>
                <a:spcPts val="3474"/>
              </a:lnSpc>
            </a:pPr>
            <a:r>
              <a:rPr lang="en-US" sz="2176">
                <a:solidFill>
                  <a:srgbClr val="000000"/>
                </a:solidFill>
                <a:latin typeface="Open Sans"/>
                <a:ea typeface="Open Sans"/>
                <a:cs typeface="Open Sans"/>
                <a:sym typeface="Open Sans"/>
              </a:rPr>
              <a:t>Elizabeth Sony Thomas                                                    Jeena George   </a:t>
            </a:r>
          </a:p>
          <a:p>
            <a:pPr algn="l">
              <a:lnSpc>
                <a:spcPts val="3474"/>
              </a:lnSpc>
            </a:pPr>
            <a:r>
              <a:rPr lang="en-US" sz="2176">
                <a:solidFill>
                  <a:srgbClr val="000000"/>
                </a:solidFill>
                <a:latin typeface="Open Sans"/>
                <a:ea typeface="Open Sans"/>
                <a:cs typeface="Open Sans"/>
                <a:sym typeface="Open Sans"/>
              </a:rPr>
              <a:t>Asst.Prof - CS,AI                                                                 Asst.Prof - AI</a:t>
            </a:r>
          </a:p>
          <a:p>
            <a:pPr algn="l">
              <a:lnSpc>
                <a:spcPts val="3474"/>
              </a:lnSpc>
            </a:pPr>
            <a:r>
              <a:rPr lang="en-US" sz="2176">
                <a:solidFill>
                  <a:srgbClr val="000000"/>
                </a:solidFill>
                <a:latin typeface="Open Sans"/>
                <a:ea typeface="Open Sans"/>
                <a:cs typeface="Open Sans"/>
                <a:sym typeface="Open Sans"/>
              </a:rPr>
              <a:t>Providence College of Engineering                                Providence College of Engineering</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0" y="0"/>
            <a:ext cx="18301811" cy="10295001"/>
            <a:chOff x="0" y="0"/>
            <a:chExt cx="24402415" cy="13726668"/>
          </a:xfrm>
        </p:grpSpPr>
        <p:sp>
          <p:nvSpPr>
            <p:cNvPr name="Freeform 3" id="3"/>
            <p:cNvSpPr/>
            <p:nvPr/>
          </p:nvSpPr>
          <p:spPr>
            <a:xfrm flipH="false" flipV="false" rot="0">
              <a:off x="0" y="0"/>
              <a:ext cx="24402414" cy="13726668"/>
            </a:xfrm>
            <a:custGeom>
              <a:avLst/>
              <a:gdLst/>
              <a:ahLst/>
              <a:cxnLst/>
              <a:rect r="r" b="b" t="t" l="l"/>
              <a:pathLst>
                <a:path h="13726668" w="24402414">
                  <a:moveTo>
                    <a:pt x="0" y="0"/>
                  </a:moveTo>
                  <a:lnTo>
                    <a:pt x="24402414" y="0"/>
                  </a:lnTo>
                  <a:lnTo>
                    <a:pt x="24402414" y="13726668"/>
                  </a:lnTo>
                  <a:lnTo>
                    <a:pt x="0" y="13726668"/>
                  </a:lnTo>
                  <a:close/>
                </a:path>
              </a:pathLst>
            </a:custGeom>
            <a:solidFill>
              <a:srgbClr val="F7EDE9"/>
            </a:solidFill>
          </p:spPr>
        </p:sp>
      </p:grpSp>
      <p:grpSp>
        <p:nvGrpSpPr>
          <p:cNvPr name="Group 4" id="4"/>
          <p:cNvGrpSpPr/>
          <p:nvPr/>
        </p:nvGrpSpPr>
        <p:grpSpPr>
          <a:xfrm rot="0">
            <a:off x="0" y="0"/>
            <a:ext cx="18301811" cy="10295001"/>
            <a:chOff x="0" y="0"/>
            <a:chExt cx="24402415" cy="13726668"/>
          </a:xfrm>
        </p:grpSpPr>
        <p:sp>
          <p:nvSpPr>
            <p:cNvPr name="Freeform 5" id="5"/>
            <p:cNvSpPr/>
            <p:nvPr/>
          </p:nvSpPr>
          <p:spPr>
            <a:xfrm flipH="false" flipV="false" rot="0">
              <a:off x="0" y="0"/>
              <a:ext cx="24402414" cy="13726668"/>
            </a:xfrm>
            <a:custGeom>
              <a:avLst/>
              <a:gdLst/>
              <a:ahLst/>
              <a:cxnLst/>
              <a:rect r="r" b="b" t="t" l="l"/>
              <a:pathLst>
                <a:path h="13726668" w="24402414">
                  <a:moveTo>
                    <a:pt x="0" y="0"/>
                  </a:moveTo>
                  <a:lnTo>
                    <a:pt x="24402414" y="0"/>
                  </a:lnTo>
                  <a:lnTo>
                    <a:pt x="24402414" y="13726668"/>
                  </a:lnTo>
                  <a:lnTo>
                    <a:pt x="0" y="13726668"/>
                  </a:lnTo>
                  <a:close/>
                </a:path>
              </a:pathLst>
            </a:custGeom>
            <a:solidFill>
              <a:srgbClr val="5E1024"/>
            </a:solidFill>
          </p:spPr>
        </p:sp>
      </p:grpSp>
      <p:grpSp>
        <p:nvGrpSpPr>
          <p:cNvPr name="Group 6" id="6"/>
          <p:cNvGrpSpPr/>
          <p:nvPr/>
        </p:nvGrpSpPr>
        <p:grpSpPr>
          <a:xfrm rot="0">
            <a:off x="0" y="0"/>
            <a:ext cx="6863144" cy="10295001"/>
            <a:chOff x="0" y="0"/>
            <a:chExt cx="9150858" cy="13726668"/>
          </a:xfrm>
        </p:grpSpPr>
        <p:sp>
          <p:nvSpPr>
            <p:cNvPr name="Freeform 7" id="7" descr="preencoded.png"/>
            <p:cNvSpPr/>
            <p:nvPr/>
          </p:nvSpPr>
          <p:spPr>
            <a:xfrm flipH="false" flipV="false" rot="0">
              <a:off x="0" y="0"/>
              <a:ext cx="9150858" cy="13726668"/>
            </a:xfrm>
            <a:custGeom>
              <a:avLst/>
              <a:gdLst/>
              <a:ahLst/>
              <a:cxnLst/>
              <a:rect r="r" b="b" t="t" l="l"/>
              <a:pathLst>
                <a:path h="13726668" w="9150858">
                  <a:moveTo>
                    <a:pt x="0" y="0"/>
                  </a:moveTo>
                  <a:lnTo>
                    <a:pt x="9150858" y="0"/>
                  </a:lnTo>
                  <a:lnTo>
                    <a:pt x="9150858" y="13726668"/>
                  </a:lnTo>
                  <a:lnTo>
                    <a:pt x="0" y="13726668"/>
                  </a:lnTo>
                  <a:lnTo>
                    <a:pt x="0" y="0"/>
                  </a:lnTo>
                  <a:close/>
                </a:path>
              </a:pathLst>
            </a:custGeom>
            <a:blipFill>
              <a:blip r:embed="rId3"/>
              <a:stretch>
                <a:fillRect l="-1" t="0" r="-1" b="0"/>
              </a:stretch>
            </a:blipFill>
          </p:spPr>
        </p:sp>
      </p:grpSp>
      <p:sp>
        <p:nvSpPr>
          <p:cNvPr name="TextBox 8" id="8"/>
          <p:cNvSpPr txBox="true"/>
          <p:nvPr/>
        </p:nvSpPr>
        <p:spPr>
          <a:xfrm rot="0">
            <a:off x="7856182" y="1855032"/>
            <a:ext cx="8008696" cy="981913"/>
          </a:xfrm>
          <a:prstGeom prst="rect">
            <a:avLst/>
          </a:prstGeom>
        </p:spPr>
        <p:txBody>
          <a:bodyPr anchor="t" rtlCol="false" tIns="0" lIns="0" bIns="0" rIns="0">
            <a:spAutoFit/>
          </a:bodyPr>
          <a:lstStyle/>
          <a:p>
            <a:pPr algn="l">
              <a:lnSpc>
                <a:spcPts val="6930"/>
              </a:lnSpc>
            </a:pPr>
            <a:r>
              <a:rPr lang="en-US" sz="5553" b="true">
                <a:solidFill>
                  <a:srgbClr val="C9A227"/>
                </a:solidFill>
                <a:latin typeface="Crimson Pro Bold"/>
                <a:ea typeface="Crimson Pro Bold"/>
                <a:cs typeface="Crimson Pro Bold"/>
                <a:sym typeface="Crimson Pro Bold"/>
              </a:rPr>
              <a:t>Problem Statement</a:t>
            </a:r>
          </a:p>
        </p:txBody>
      </p:sp>
      <p:sp>
        <p:nvSpPr>
          <p:cNvPr name="TextBox 9" id="9"/>
          <p:cNvSpPr txBox="true"/>
          <p:nvPr/>
        </p:nvSpPr>
        <p:spPr>
          <a:xfrm rot="0">
            <a:off x="7856182" y="3110084"/>
            <a:ext cx="9452677" cy="2741505"/>
          </a:xfrm>
          <a:prstGeom prst="rect">
            <a:avLst/>
          </a:prstGeom>
        </p:spPr>
        <p:txBody>
          <a:bodyPr anchor="t" rtlCol="false" tIns="0" lIns="0" bIns="0" rIns="0">
            <a:spAutoFit/>
          </a:bodyPr>
          <a:lstStyle/>
          <a:p>
            <a:pPr algn="l">
              <a:lnSpc>
                <a:spcPts val="3474"/>
              </a:lnSpc>
            </a:pPr>
            <a:r>
              <a:rPr lang="en-US" sz="2176">
                <a:solidFill>
                  <a:srgbClr val="FFFFFF"/>
                </a:solidFill>
                <a:latin typeface="Open Sans"/>
                <a:ea typeface="Open Sans"/>
                <a:cs typeface="Open Sans"/>
                <a:sym typeface="Open Sans"/>
              </a:rPr>
              <a:t>Wine quality assessment is traditionally performed through sensory evaluation by expert tasters, which can be subjective, time-consuming, and costly. This project aims to develop a machine learning model that predicts the quality of wine based on its physicochemical properties.</a:t>
            </a:r>
          </a:p>
        </p:txBody>
      </p:sp>
      <p:grpSp>
        <p:nvGrpSpPr>
          <p:cNvPr name="Group 10" id="10"/>
          <p:cNvGrpSpPr/>
          <p:nvPr/>
        </p:nvGrpSpPr>
        <p:grpSpPr>
          <a:xfrm rot="0">
            <a:off x="7651833" y="6170771"/>
            <a:ext cx="3097721" cy="2173986"/>
            <a:chOff x="0" y="0"/>
            <a:chExt cx="4130294" cy="2898648"/>
          </a:xfrm>
        </p:grpSpPr>
        <p:sp>
          <p:nvSpPr>
            <p:cNvPr name="Freeform 11" id="11"/>
            <p:cNvSpPr/>
            <p:nvPr/>
          </p:nvSpPr>
          <p:spPr>
            <a:xfrm flipH="false" flipV="false" rot="0">
              <a:off x="0" y="0"/>
              <a:ext cx="4130294" cy="2898648"/>
            </a:xfrm>
            <a:custGeom>
              <a:avLst/>
              <a:gdLst/>
              <a:ahLst/>
              <a:cxnLst/>
              <a:rect r="r" b="b" t="t" l="l"/>
              <a:pathLst>
                <a:path h="2898648" w="4130294">
                  <a:moveTo>
                    <a:pt x="0" y="272415"/>
                  </a:moveTo>
                  <a:cubicBezTo>
                    <a:pt x="0" y="121920"/>
                    <a:pt x="121920" y="0"/>
                    <a:pt x="272415" y="0"/>
                  </a:cubicBezTo>
                  <a:lnTo>
                    <a:pt x="3857879" y="0"/>
                  </a:lnTo>
                  <a:cubicBezTo>
                    <a:pt x="4008374" y="0"/>
                    <a:pt x="4130294" y="121920"/>
                    <a:pt x="4130294" y="272415"/>
                  </a:cubicBezTo>
                  <a:lnTo>
                    <a:pt x="4130294" y="2626233"/>
                  </a:lnTo>
                  <a:cubicBezTo>
                    <a:pt x="4130294" y="2776728"/>
                    <a:pt x="4008374" y="2898648"/>
                    <a:pt x="3857879" y="2898648"/>
                  </a:cubicBezTo>
                  <a:lnTo>
                    <a:pt x="272415" y="2898648"/>
                  </a:lnTo>
                  <a:cubicBezTo>
                    <a:pt x="121920" y="2898648"/>
                    <a:pt x="0" y="2776728"/>
                    <a:pt x="0" y="2626233"/>
                  </a:cubicBezTo>
                  <a:close/>
                </a:path>
              </a:pathLst>
            </a:custGeom>
            <a:solidFill>
              <a:srgbClr val="C9907C"/>
            </a:solidFill>
          </p:spPr>
        </p:sp>
      </p:grpSp>
      <p:sp>
        <p:nvSpPr>
          <p:cNvPr name="TextBox 12" id="12"/>
          <p:cNvSpPr txBox="true"/>
          <p:nvPr/>
        </p:nvSpPr>
        <p:spPr>
          <a:xfrm rot="0">
            <a:off x="7935563" y="6397361"/>
            <a:ext cx="3445297" cy="500405"/>
          </a:xfrm>
          <a:prstGeom prst="rect">
            <a:avLst/>
          </a:prstGeom>
        </p:spPr>
        <p:txBody>
          <a:bodyPr anchor="t" rtlCol="false" tIns="0" lIns="0" bIns="0" rIns="0">
            <a:spAutoFit/>
          </a:bodyPr>
          <a:lstStyle/>
          <a:p>
            <a:pPr algn="l">
              <a:lnSpc>
                <a:spcPts val="3465"/>
              </a:lnSpc>
            </a:pPr>
            <a:r>
              <a:rPr lang="en-US" sz="2776" b="true">
                <a:solidFill>
                  <a:srgbClr val="000000"/>
                </a:solidFill>
                <a:latin typeface="Crimson Pro Bold"/>
                <a:ea typeface="Crimson Pro Bold"/>
                <a:cs typeface="Crimson Pro Bold"/>
                <a:sym typeface="Crimson Pro Bold"/>
              </a:rPr>
              <a:t>Task</a:t>
            </a:r>
          </a:p>
        </p:txBody>
      </p:sp>
      <p:sp>
        <p:nvSpPr>
          <p:cNvPr name="TextBox 13" id="13"/>
          <p:cNvSpPr txBox="true"/>
          <p:nvPr/>
        </p:nvSpPr>
        <p:spPr>
          <a:xfrm rot="0">
            <a:off x="7935563" y="7029107"/>
            <a:ext cx="2530202" cy="1060371"/>
          </a:xfrm>
          <a:prstGeom prst="rect">
            <a:avLst/>
          </a:prstGeom>
        </p:spPr>
        <p:txBody>
          <a:bodyPr anchor="t" rtlCol="false" tIns="0" lIns="0" bIns="0" rIns="0">
            <a:spAutoFit/>
          </a:bodyPr>
          <a:lstStyle/>
          <a:p>
            <a:pPr algn="l">
              <a:lnSpc>
                <a:spcPts val="3474"/>
              </a:lnSpc>
            </a:pPr>
            <a:r>
              <a:rPr lang="en-US" sz="2176">
                <a:solidFill>
                  <a:srgbClr val="000000"/>
                </a:solidFill>
                <a:latin typeface="Open Sans"/>
                <a:ea typeface="Open Sans"/>
                <a:cs typeface="Open Sans"/>
                <a:sym typeface="Open Sans"/>
              </a:rPr>
              <a:t>Multiclass Classification</a:t>
            </a:r>
          </a:p>
        </p:txBody>
      </p:sp>
      <p:grpSp>
        <p:nvGrpSpPr>
          <p:cNvPr name="Group 14" id="14"/>
          <p:cNvGrpSpPr/>
          <p:nvPr/>
        </p:nvGrpSpPr>
        <p:grpSpPr>
          <a:xfrm rot="0">
            <a:off x="11042618" y="6170771"/>
            <a:ext cx="3097721" cy="2173986"/>
            <a:chOff x="0" y="0"/>
            <a:chExt cx="4130294" cy="2898648"/>
          </a:xfrm>
        </p:grpSpPr>
        <p:sp>
          <p:nvSpPr>
            <p:cNvPr name="Freeform 15" id="15"/>
            <p:cNvSpPr/>
            <p:nvPr/>
          </p:nvSpPr>
          <p:spPr>
            <a:xfrm flipH="false" flipV="false" rot="0">
              <a:off x="0" y="0"/>
              <a:ext cx="4130294" cy="2898648"/>
            </a:xfrm>
            <a:custGeom>
              <a:avLst/>
              <a:gdLst/>
              <a:ahLst/>
              <a:cxnLst/>
              <a:rect r="r" b="b" t="t" l="l"/>
              <a:pathLst>
                <a:path h="2898648" w="4130294">
                  <a:moveTo>
                    <a:pt x="0" y="272415"/>
                  </a:moveTo>
                  <a:cubicBezTo>
                    <a:pt x="0" y="121920"/>
                    <a:pt x="121920" y="0"/>
                    <a:pt x="272415" y="0"/>
                  </a:cubicBezTo>
                  <a:lnTo>
                    <a:pt x="3857879" y="0"/>
                  </a:lnTo>
                  <a:cubicBezTo>
                    <a:pt x="4008374" y="0"/>
                    <a:pt x="4130294" y="121920"/>
                    <a:pt x="4130294" y="272415"/>
                  </a:cubicBezTo>
                  <a:lnTo>
                    <a:pt x="4130294" y="2626233"/>
                  </a:lnTo>
                  <a:cubicBezTo>
                    <a:pt x="4130294" y="2776728"/>
                    <a:pt x="4008374" y="2898648"/>
                    <a:pt x="3857879" y="2898648"/>
                  </a:cubicBezTo>
                  <a:lnTo>
                    <a:pt x="272415" y="2898648"/>
                  </a:lnTo>
                  <a:cubicBezTo>
                    <a:pt x="121920" y="2898648"/>
                    <a:pt x="0" y="2776728"/>
                    <a:pt x="0" y="2626233"/>
                  </a:cubicBezTo>
                  <a:close/>
                </a:path>
              </a:pathLst>
            </a:custGeom>
            <a:solidFill>
              <a:srgbClr val="C9907C"/>
            </a:solidFill>
          </p:spPr>
        </p:sp>
      </p:grpSp>
      <p:sp>
        <p:nvSpPr>
          <p:cNvPr name="TextBox 16" id="16"/>
          <p:cNvSpPr txBox="true"/>
          <p:nvPr/>
        </p:nvSpPr>
        <p:spPr>
          <a:xfrm rot="0">
            <a:off x="11326349" y="6397361"/>
            <a:ext cx="3445297" cy="500405"/>
          </a:xfrm>
          <a:prstGeom prst="rect">
            <a:avLst/>
          </a:prstGeom>
        </p:spPr>
        <p:txBody>
          <a:bodyPr anchor="t" rtlCol="false" tIns="0" lIns="0" bIns="0" rIns="0">
            <a:spAutoFit/>
          </a:bodyPr>
          <a:lstStyle/>
          <a:p>
            <a:pPr algn="l">
              <a:lnSpc>
                <a:spcPts val="3465"/>
              </a:lnSpc>
            </a:pPr>
            <a:r>
              <a:rPr lang="en-US" sz="2776" b="true">
                <a:solidFill>
                  <a:srgbClr val="000000"/>
                </a:solidFill>
                <a:latin typeface="Crimson Pro Bold"/>
                <a:ea typeface="Crimson Pro Bold"/>
                <a:cs typeface="Crimson Pro Bold"/>
                <a:sym typeface="Crimson Pro Bold"/>
              </a:rPr>
              <a:t>Input</a:t>
            </a:r>
          </a:p>
        </p:txBody>
      </p:sp>
      <p:sp>
        <p:nvSpPr>
          <p:cNvPr name="TextBox 17" id="17"/>
          <p:cNvSpPr txBox="true"/>
          <p:nvPr/>
        </p:nvSpPr>
        <p:spPr>
          <a:xfrm rot="0">
            <a:off x="11326349" y="7029107"/>
            <a:ext cx="2530202" cy="1060371"/>
          </a:xfrm>
          <a:prstGeom prst="rect">
            <a:avLst/>
          </a:prstGeom>
        </p:spPr>
        <p:txBody>
          <a:bodyPr anchor="t" rtlCol="false" tIns="0" lIns="0" bIns="0" rIns="0">
            <a:spAutoFit/>
          </a:bodyPr>
          <a:lstStyle/>
          <a:p>
            <a:pPr algn="l">
              <a:lnSpc>
                <a:spcPts val="3474"/>
              </a:lnSpc>
            </a:pPr>
            <a:r>
              <a:rPr lang="en-US" sz="2176">
                <a:solidFill>
                  <a:srgbClr val="000000"/>
                </a:solidFill>
                <a:latin typeface="Open Sans"/>
                <a:ea typeface="Open Sans"/>
                <a:cs typeface="Open Sans"/>
                <a:sym typeface="Open Sans"/>
              </a:rPr>
              <a:t>11 chemical properties of wine</a:t>
            </a:r>
          </a:p>
        </p:txBody>
      </p:sp>
      <p:grpSp>
        <p:nvGrpSpPr>
          <p:cNvPr name="Group 18" id="18"/>
          <p:cNvGrpSpPr/>
          <p:nvPr/>
        </p:nvGrpSpPr>
        <p:grpSpPr>
          <a:xfrm rot="0">
            <a:off x="14433404" y="6170771"/>
            <a:ext cx="3097721" cy="2173986"/>
            <a:chOff x="0" y="0"/>
            <a:chExt cx="4130294" cy="2898648"/>
          </a:xfrm>
        </p:grpSpPr>
        <p:sp>
          <p:nvSpPr>
            <p:cNvPr name="Freeform 19" id="19"/>
            <p:cNvSpPr/>
            <p:nvPr/>
          </p:nvSpPr>
          <p:spPr>
            <a:xfrm flipH="false" flipV="false" rot="0">
              <a:off x="0" y="0"/>
              <a:ext cx="4130294" cy="2898648"/>
            </a:xfrm>
            <a:custGeom>
              <a:avLst/>
              <a:gdLst/>
              <a:ahLst/>
              <a:cxnLst/>
              <a:rect r="r" b="b" t="t" l="l"/>
              <a:pathLst>
                <a:path h="2898648" w="4130294">
                  <a:moveTo>
                    <a:pt x="0" y="272415"/>
                  </a:moveTo>
                  <a:cubicBezTo>
                    <a:pt x="0" y="121920"/>
                    <a:pt x="121920" y="0"/>
                    <a:pt x="272415" y="0"/>
                  </a:cubicBezTo>
                  <a:lnTo>
                    <a:pt x="3857879" y="0"/>
                  </a:lnTo>
                  <a:cubicBezTo>
                    <a:pt x="4008374" y="0"/>
                    <a:pt x="4130294" y="121920"/>
                    <a:pt x="4130294" y="272415"/>
                  </a:cubicBezTo>
                  <a:lnTo>
                    <a:pt x="4130294" y="2626233"/>
                  </a:lnTo>
                  <a:cubicBezTo>
                    <a:pt x="4130294" y="2776728"/>
                    <a:pt x="4008374" y="2898648"/>
                    <a:pt x="3857879" y="2898648"/>
                  </a:cubicBezTo>
                  <a:lnTo>
                    <a:pt x="272415" y="2898648"/>
                  </a:lnTo>
                  <a:cubicBezTo>
                    <a:pt x="121920" y="2898648"/>
                    <a:pt x="0" y="2776728"/>
                    <a:pt x="0" y="2626233"/>
                  </a:cubicBezTo>
                  <a:close/>
                </a:path>
              </a:pathLst>
            </a:custGeom>
            <a:solidFill>
              <a:srgbClr val="C9907C"/>
            </a:solidFill>
          </p:spPr>
        </p:sp>
      </p:grpSp>
      <p:sp>
        <p:nvSpPr>
          <p:cNvPr name="TextBox 20" id="20"/>
          <p:cNvSpPr txBox="true"/>
          <p:nvPr/>
        </p:nvSpPr>
        <p:spPr>
          <a:xfrm rot="0">
            <a:off x="14717135" y="6397361"/>
            <a:ext cx="3445297" cy="500405"/>
          </a:xfrm>
          <a:prstGeom prst="rect">
            <a:avLst/>
          </a:prstGeom>
        </p:spPr>
        <p:txBody>
          <a:bodyPr anchor="t" rtlCol="false" tIns="0" lIns="0" bIns="0" rIns="0">
            <a:spAutoFit/>
          </a:bodyPr>
          <a:lstStyle/>
          <a:p>
            <a:pPr algn="l">
              <a:lnSpc>
                <a:spcPts val="3465"/>
              </a:lnSpc>
            </a:pPr>
            <a:r>
              <a:rPr lang="en-US" sz="2776" b="true">
                <a:solidFill>
                  <a:srgbClr val="000000"/>
                </a:solidFill>
                <a:latin typeface="Crimson Pro Bold"/>
                <a:ea typeface="Crimson Pro Bold"/>
                <a:cs typeface="Crimson Pro Bold"/>
                <a:sym typeface="Crimson Pro Bold"/>
              </a:rPr>
              <a:t>Output</a:t>
            </a:r>
          </a:p>
        </p:txBody>
      </p:sp>
      <p:sp>
        <p:nvSpPr>
          <p:cNvPr name="TextBox 21" id="21"/>
          <p:cNvSpPr txBox="true"/>
          <p:nvPr/>
        </p:nvSpPr>
        <p:spPr>
          <a:xfrm rot="0">
            <a:off x="14717135" y="7029107"/>
            <a:ext cx="2530202" cy="1060371"/>
          </a:xfrm>
          <a:prstGeom prst="rect">
            <a:avLst/>
          </a:prstGeom>
        </p:spPr>
        <p:txBody>
          <a:bodyPr anchor="t" rtlCol="false" tIns="0" lIns="0" bIns="0" rIns="0">
            <a:spAutoFit/>
          </a:bodyPr>
          <a:lstStyle/>
          <a:p>
            <a:pPr algn="l">
              <a:lnSpc>
                <a:spcPts val="3474"/>
              </a:lnSpc>
            </a:pPr>
            <a:r>
              <a:rPr lang="en-US" sz="2176">
                <a:solidFill>
                  <a:srgbClr val="000000"/>
                </a:solidFill>
                <a:latin typeface="Open Sans"/>
                <a:ea typeface="Open Sans"/>
                <a:cs typeface="Open Sans"/>
                <a:sym typeface="Open Sans"/>
              </a:rPr>
              <a:t>Predicted wine quality score (0-10)</a:t>
            </a:r>
          </a:p>
        </p:txBody>
      </p:sp>
    </p:spTree>
  </p:cSld>
  <p:clrMapOvr>
    <a:masterClrMapping/>
  </p:clrMapOvr>
</p:sld>
</file>

<file path=ppt/slides/slide4.xml><?xml version="1.0" encoding="utf-8"?>
<p:sld xmlns:p="http://schemas.openxmlformats.org/presentationml/2006/main" xmlns:a="http://schemas.openxmlformats.org/drawingml/2006/main">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0" y="0"/>
            <a:ext cx="18301811" cy="10295001"/>
            <a:chOff x="0" y="0"/>
            <a:chExt cx="24402415" cy="13726668"/>
          </a:xfrm>
        </p:grpSpPr>
        <p:sp>
          <p:nvSpPr>
            <p:cNvPr name="Freeform 3" id="3"/>
            <p:cNvSpPr/>
            <p:nvPr/>
          </p:nvSpPr>
          <p:spPr>
            <a:xfrm flipH="false" flipV="false" rot="0">
              <a:off x="0" y="0"/>
              <a:ext cx="24402414" cy="13726668"/>
            </a:xfrm>
            <a:custGeom>
              <a:avLst/>
              <a:gdLst/>
              <a:ahLst/>
              <a:cxnLst/>
              <a:rect r="r" b="b" t="t" l="l"/>
              <a:pathLst>
                <a:path h="13726668" w="24402414">
                  <a:moveTo>
                    <a:pt x="0" y="0"/>
                  </a:moveTo>
                  <a:lnTo>
                    <a:pt x="24402414" y="0"/>
                  </a:lnTo>
                  <a:lnTo>
                    <a:pt x="24402414" y="13726668"/>
                  </a:lnTo>
                  <a:lnTo>
                    <a:pt x="0" y="13726668"/>
                  </a:lnTo>
                  <a:close/>
                </a:path>
              </a:pathLst>
            </a:custGeom>
            <a:solidFill>
              <a:srgbClr val="F7EDE9"/>
            </a:solidFill>
          </p:spPr>
        </p:sp>
      </p:grpSp>
      <p:grpSp>
        <p:nvGrpSpPr>
          <p:cNvPr name="Group 4" id="4"/>
          <p:cNvGrpSpPr/>
          <p:nvPr/>
        </p:nvGrpSpPr>
        <p:grpSpPr>
          <a:xfrm rot="0">
            <a:off x="0" y="0"/>
            <a:ext cx="18301811" cy="10295001"/>
            <a:chOff x="0" y="0"/>
            <a:chExt cx="24402415" cy="13726668"/>
          </a:xfrm>
        </p:grpSpPr>
        <p:sp>
          <p:nvSpPr>
            <p:cNvPr name="Freeform 5" id="5"/>
            <p:cNvSpPr/>
            <p:nvPr/>
          </p:nvSpPr>
          <p:spPr>
            <a:xfrm flipH="false" flipV="false" rot="0">
              <a:off x="0" y="0"/>
              <a:ext cx="24402414" cy="13726668"/>
            </a:xfrm>
            <a:custGeom>
              <a:avLst/>
              <a:gdLst/>
              <a:ahLst/>
              <a:cxnLst/>
              <a:rect r="r" b="b" t="t" l="l"/>
              <a:pathLst>
                <a:path h="13726668" w="24402414">
                  <a:moveTo>
                    <a:pt x="0" y="0"/>
                  </a:moveTo>
                  <a:lnTo>
                    <a:pt x="24402414" y="0"/>
                  </a:lnTo>
                  <a:lnTo>
                    <a:pt x="24402414" y="13726668"/>
                  </a:lnTo>
                  <a:lnTo>
                    <a:pt x="0" y="13726668"/>
                  </a:lnTo>
                  <a:close/>
                </a:path>
              </a:pathLst>
            </a:custGeom>
            <a:solidFill>
              <a:srgbClr val="5E1024"/>
            </a:solidFill>
          </p:spPr>
        </p:sp>
      </p:grpSp>
      <p:sp>
        <p:nvSpPr>
          <p:cNvPr name="TextBox 6" id="6"/>
          <p:cNvSpPr txBox="true"/>
          <p:nvPr/>
        </p:nvSpPr>
        <p:spPr>
          <a:xfrm rot="0">
            <a:off x="4155896" y="1336464"/>
            <a:ext cx="9990049" cy="981913"/>
          </a:xfrm>
          <a:prstGeom prst="rect">
            <a:avLst/>
          </a:prstGeom>
        </p:spPr>
        <p:txBody>
          <a:bodyPr anchor="t" rtlCol="false" tIns="0" lIns="0" bIns="0" rIns="0">
            <a:spAutoFit/>
          </a:bodyPr>
          <a:lstStyle/>
          <a:p>
            <a:pPr algn="ctr">
              <a:lnSpc>
                <a:spcPts val="6930"/>
              </a:lnSpc>
            </a:pPr>
            <a:r>
              <a:rPr lang="en-US" sz="5553" b="true">
                <a:solidFill>
                  <a:srgbClr val="C9A227"/>
                </a:solidFill>
                <a:latin typeface="Crimson Pro Bold"/>
                <a:ea typeface="Crimson Pro Bold"/>
                <a:cs typeface="Crimson Pro Bold"/>
                <a:sym typeface="Crimson Pro Bold"/>
              </a:rPr>
              <a:t>Why Is This Useful in Real Life</a:t>
            </a:r>
          </a:p>
        </p:txBody>
      </p:sp>
      <p:sp>
        <p:nvSpPr>
          <p:cNvPr name="TextBox 7" id="7"/>
          <p:cNvSpPr txBox="true"/>
          <p:nvPr/>
        </p:nvSpPr>
        <p:spPr>
          <a:xfrm rot="0">
            <a:off x="992991" y="4335075"/>
            <a:ext cx="5202203" cy="943670"/>
          </a:xfrm>
          <a:prstGeom prst="rect">
            <a:avLst/>
          </a:prstGeom>
        </p:spPr>
        <p:txBody>
          <a:bodyPr anchor="t" rtlCol="false" tIns="0" lIns="0" bIns="0" rIns="0">
            <a:spAutoFit/>
          </a:bodyPr>
          <a:lstStyle/>
          <a:p>
            <a:pPr algn="l">
              <a:lnSpc>
                <a:spcPts val="3465"/>
              </a:lnSpc>
            </a:pPr>
            <a:r>
              <a:rPr lang="en-US" sz="2776" b="true">
                <a:solidFill>
                  <a:srgbClr val="FFFFFF"/>
                </a:solidFill>
                <a:latin typeface="Crimson Pro Bold"/>
                <a:ea typeface="Crimson Pro Bold"/>
                <a:cs typeface="Crimson Pro Bold"/>
                <a:sym typeface="Crimson Pro Bold"/>
              </a:rPr>
              <a:t>Reduces Dependence on Manual Wine Tasting</a:t>
            </a:r>
          </a:p>
        </p:txBody>
      </p:sp>
      <p:sp>
        <p:nvSpPr>
          <p:cNvPr name="TextBox 8" id="8"/>
          <p:cNvSpPr txBox="true"/>
          <p:nvPr/>
        </p:nvSpPr>
        <p:spPr>
          <a:xfrm rot="0">
            <a:off x="6549819" y="4335075"/>
            <a:ext cx="5202203" cy="943670"/>
          </a:xfrm>
          <a:prstGeom prst="rect">
            <a:avLst/>
          </a:prstGeom>
        </p:spPr>
        <p:txBody>
          <a:bodyPr anchor="t" rtlCol="false" tIns="0" lIns="0" bIns="0" rIns="0">
            <a:spAutoFit/>
          </a:bodyPr>
          <a:lstStyle/>
          <a:p>
            <a:pPr algn="l">
              <a:lnSpc>
                <a:spcPts val="3465"/>
              </a:lnSpc>
            </a:pPr>
            <a:r>
              <a:rPr lang="en-US" sz="2776" b="true">
                <a:solidFill>
                  <a:srgbClr val="FFFFFF"/>
                </a:solidFill>
                <a:latin typeface="Crimson Pro Bold"/>
                <a:ea typeface="Crimson Pro Bold"/>
                <a:cs typeface="Crimson Pro Bold"/>
                <a:sym typeface="Crimson Pro Bold"/>
              </a:rPr>
              <a:t>Enables Faster and More Consistent Quality Assessment</a:t>
            </a:r>
          </a:p>
        </p:txBody>
      </p:sp>
      <p:sp>
        <p:nvSpPr>
          <p:cNvPr name="TextBox 9" id="9"/>
          <p:cNvSpPr txBox="true"/>
          <p:nvPr/>
        </p:nvSpPr>
        <p:spPr>
          <a:xfrm rot="0">
            <a:off x="12106646" y="4335075"/>
            <a:ext cx="5202203" cy="943670"/>
          </a:xfrm>
          <a:prstGeom prst="rect">
            <a:avLst/>
          </a:prstGeom>
        </p:spPr>
        <p:txBody>
          <a:bodyPr anchor="t" rtlCol="false" tIns="0" lIns="0" bIns="0" rIns="0">
            <a:spAutoFit/>
          </a:bodyPr>
          <a:lstStyle/>
          <a:p>
            <a:pPr algn="l">
              <a:lnSpc>
                <a:spcPts val="3465"/>
              </a:lnSpc>
            </a:pPr>
            <a:r>
              <a:rPr lang="en-US" sz="2776" b="true">
                <a:solidFill>
                  <a:srgbClr val="FFFFFF"/>
                </a:solidFill>
                <a:latin typeface="Crimson Pro Bold"/>
                <a:ea typeface="Crimson Pro Bold"/>
                <a:cs typeface="Crimson Pro Bold"/>
                <a:sym typeface="Crimson Pro Bold"/>
              </a:rPr>
              <a:t>Helps Manufacturers Maintain Product Standards</a:t>
            </a:r>
          </a:p>
        </p:txBody>
      </p:sp>
      <p:sp>
        <p:nvSpPr>
          <p:cNvPr name="TextBox 10" id="10"/>
          <p:cNvSpPr txBox="true"/>
          <p:nvPr/>
        </p:nvSpPr>
        <p:spPr>
          <a:xfrm rot="0">
            <a:off x="992991" y="6852980"/>
            <a:ext cx="5202203" cy="943670"/>
          </a:xfrm>
          <a:prstGeom prst="rect">
            <a:avLst/>
          </a:prstGeom>
        </p:spPr>
        <p:txBody>
          <a:bodyPr anchor="t" rtlCol="false" tIns="0" lIns="0" bIns="0" rIns="0">
            <a:spAutoFit/>
          </a:bodyPr>
          <a:lstStyle/>
          <a:p>
            <a:pPr algn="l">
              <a:lnSpc>
                <a:spcPts val="3465"/>
              </a:lnSpc>
            </a:pPr>
            <a:r>
              <a:rPr lang="en-US" sz="2776" b="true">
                <a:solidFill>
                  <a:srgbClr val="FFFFFF"/>
                </a:solidFill>
                <a:latin typeface="Crimson Pro Bold"/>
                <a:ea typeface="Crimson Pro Bold"/>
                <a:cs typeface="Crimson Pro Bold"/>
                <a:sym typeface="Crimson Pro Bold"/>
              </a:rPr>
              <a:t>Saves Time and Operational Costs in Quality Control</a:t>
            </a:r>
          </a:p>
        </p:txBody>
      </p:sp>
      <p:sp>
        <p:nvSpPr>
          <p:cNvPr name="TextBox 11" id="11"/>
          <p:cNvSpPr txBox="true"/>
          <p:nvPr/>
        </p:nvSpPr>
        <p:spPr>
          <a:xfrm rot="0">
            <a:off x="6549819" y="6852980"/>
            <a:ext cx="5202203" cy="943670"/>
          </a:xfrm>
          <a:prstGeom prst="rect">
            <a:avLst/>
          </a:prstGeom>
        </p:spPr>
        <p:txBody>
          <a:bodyPr anchor="t" rtlCol="false" tIns="0" lIns="0" bIns="0" rIns="0">
            <a:spAutoFit/>
          </a:bodyPr>
          <a:lstStyle/>
          <a:p>
            <a:pPr algn="l">
              <a:lnSpc>
                <a:spcPts val="3465"/>
              </a:lnSpc>
            </a:pPr>
            <a:r>
              <a:rPr lang="en-US" sz="2776" b="true">
                <a:solidFill>
                  <a:srgbClr val="FFFFFF"/>
                </a:solidFill>
                <a:latin typeface="Crimson Pro Bold"/>
                <a:ea typeface="Crimson Pro Bold"/>
                <a:cs typeface="Crimson Pro Bold"/>
                <a:sym typeface="Crimson Pro Bold"/>
              </a:rPr>
              <a:t>Data-Driven Decision-Making in Food &amp; Beverage</a:t>
            </a:r>
          </a:p>
        </p:txBody>
      </p:sp>
      <p:sp>
        <p:nvSpPr>
          <p:cNvPr name="TextBox 12" id="12"/>
          <p:cNvSpPr txBox="true"/>
          <p:nvPr/>
        </p:nvSpPr>
        <p:spPr>
          <a:xfrm rot="0">
            <a:off x="1028700" y="3192230"/>
            <a:ext cx="348020" cy="887095"/>
          </a:xfrm>
          <a:prstGeom prst="rect">
            <a:avLst/>
          </a:prstGeom>
        </p:spPr>
        <p:txBody>
          <a:bodyPr anchor="t" rtlCol="false" tIns="0" lIns="0" bIns="0" rIns="0">
            <a:spAutoFit/>
          </a:bodyPr>
          <a:lstStyle/>
          <a:p>
            <a:pPr algn="ctr">
              <a:lnSpc>
                <a:spcPts val="7279"/>
              </a:lnSpc>
            </a:pPr>
            <a:r>
              <a:rPr lang="en-US" b="true" sz="5199">
                <a:solidFill>
                  <a:srgbClr val="C9907C"/>
                </a:solidFill>
                <a:latin typeface="Canva Sans Bold"/>
                <a:ea typeface="Canva Sans Bold"/>
                <a:cs typeface="Canva Sans Bold"/>
                <a:sym typeface="Canva Sans Bold"/>
              </a:rPr>
              <a:t>1</a:t>
            </a:r>
          </a:p>
        </p:txBody>
      </p:sp>
      <p:sp>
        <p:nvSpPr>
          <p:cNvPr name="TextBox 13" id="13"/>
          <p:cNvSpPr txBox="true"/>
          <p:nvPr/>
        </p:nvSpPr>
        <p:spPr>
          <a:xfrm rot="0">
            <a:off x="6539877" y="3192230"/>
            <a:ext cx="367903" cy="887095"/>
          </a:xfrm>
          <a:prstGeom prst="rect">
            <a:avLst/>
          </a:prstGeom>
        </p:spPr>
        <p:txBody>
          <a:bodyPr anchor="t" rtlCol="false" tIns="0" lIns="0" bIns="0" rIns="0">
            <a:spAutoFit/>
          </a:bodyPr>
          <a:lstStyle/>
          <a:p>
            <a:pPr algn="ctr">
              <a:lnSpc>
                <a:spcPts val="7279"/>
              </a:lnSpc>
            </a:pPr>
            <a:r>
              <a:rPr lang="en-US" b="true" sz="5199">
                <a:solidFill>
                  <a:srgbClr val="C9907C"/>
                </a:solidFill>
                <a:latin typeface="Canva Sans Bold"/>
                <a:ea typeface="Canva Sans Bold"/>
                <a:cs typeface="Canva Sans Bold"/>
                <a:sym typeface="Canva Sans Bold"/>
              </a:rPr>
              <a:t>2</a:t>
            </a:r>
          </a:p>
        </p:txBody>
      </p:sp>
      <p:sp>
        <p:nvSpPr>
          <p:cNvPr name="TextBox 14" id="14"/>
          <p:cNvSpPr txBox="true"/>
          <p:nvPr/>
        </p:nvSpPr>
        <p:spPr>
          <a:xfrm rot="0">
            <a:off x="12049256" y="3192230"/>
            <a:ext cx="390168" cy="887095"/>
          </a:xfrm>
          <a:prstGeom prst="rect">
            <a:avLst/>
          </a:prstGeom>
        </p:spPr>
        <p:txBody>
          <a:bodyPr anchor="t" rtlCol="false" tIns="0" lIns="0" bIns="0" rIns="0">
            <a:spAutoFit/>
          </a:bodyPr>
          <a:lstStyle/>
          <a:p>
            <a:pPr algn="ctr">
              <a:lnSpc>
                <a:spcPts val="7279"/>
              </a:lnSpc>
            </a:pPr>
            <a:r>
              <a:rPr lang="en-US" b="true" sz="5199">
                <a:solidFill>
                  <a:srgbClr val="C9907C"/>
                </a:solidFill>
                <a:latin typeface="Canva Sans Bold"/>
                <a:ea typeface="Canva Sans Bold"/>
                <a:cs typeface="Canva Sans Bold"/>
                <a:sym typeface="Canva Sans Bold"/>
              </a:rPr>
              <a:t>3</a:t>
            </a:r>
          </a:p>
        </p:txBody>
      </p:sp>
      <p:sp>
        <p:nvSpPr>
          <p:cNvPr name="TextBox 15" id="15"/>
          <p:cNvSpPr txBox="true"/>
          <p:nvPr/>
        </p:nvSpPr>
        <p:spPr>
          <a:xfrm rot="0">
            <a:off x="997268" y="5733880"/>
            <a:ext cx="410885" cy="887095"/>
          </a:xfrm>
          <a:prstGeom prst="rect">
            <a:avLst/>
          </a:prstGeom>
        </p:spPr>
        <p:txBody>
          <a:bodyPr anchor="t" rtlCol="false" tIns="0" lIns="0" bIns="0" rIns="0">
            <a:spAutoFit/>
          </a:bodyPr>
          <a:lstStyle/>
          <a:p>
            <a:pPr algn="ctr">
              <a:lnSpc>
                <a:spcPts val="7279"/>
              </a:lnSpc>
            </a:pPr>
            <a:r>
              <a:rPr lang="en-US" b="true" sz="5199">
                <a:solidFill>
                  <a:srgbClr val="C9907C"/>
                </a:solidFill>
                <a:latin typeface="Canva Sans Bold"/>
                <a:ea typeface="Canva Sans Bold"/>
                <a:cs typeface="Canva Sans Bold"/>
                <a:sym typeface="Canva Sans Bold"/>
              </a:rPr>
              <a:t>4</a:t>
            </a:r>
          </a:p>
        </p:txBody>
      </p:sp>
      <p:sp>
        <p:nvSpPr>
          <p:cNvPr name="TextBox 16" id="16"/>
          <p:cNvSpPr txBox="true"/>
          <p:nvPr/>
        </p:nvSpPr>
        <p:spPr>
          <a:xfrm rot="0">
            <a:off x="6515231" y="5733880"/>
            <a:ext cx="397312" cy="887095"/>
          </a:xfrm>
          <a:prstGeom prst="rect">
            <a:avLst/>
          </a:prstGeom>
        </p:spPr>
        <p:txBody>
          <a:bodyPr anchor="t" rtlCol="false" tIns="0" lIns="0" bIns="0" rIns="0">
            <a:spAutoFit/>
          </a:bodyPr>
          <a:lstStyle/>
          <a:p>
            <a:pPr algn="ctr">
              <a:lnSpc>
                <a:spcPts val="7279"/>
              </a:lnSpc>
            </a:pPr>
            <a:r>
              <a:rPr lang="en-US" b="true" sz="5199">
                <a:solidFill>
                  <a:srgbClr val="C9907C"/>
                </a:solidFill>
                <a:latin typeface="Canva Sans Bold"/>
                <a:ea typeface="Canva Sans Bold"/>
                <a:cs typeface="Canva Sans Bold"/>
                <a:sym typeface="Canva Sans Bold"/>
              </a:rPr>
              <a:t>5</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0" y="0"/>
            <a:ext cx="18301811" cy="10295001"/>
            <a:chOff x="0" y="0"/>
            <a:chExt cx="24402415" cy="13726668"/>
          </a:xfrm>
        </p:grpSpPr>
        <p:sp>
          <p:nvSpPr>
            <p:cNvPr name="Freeform 3" id="3"/>
            <p:cNvSpPr/>
            <p:nvPr/>
          </p:nvSpPr>
          <p:spPr>
            <a:xfrm flipH="false" flipV="false" rot="0">
              <a:off x="0" y="0"/>
              <a:ext cx="24402414" cy="13726668"/>
            </a:xfrm>
            <a:custGeom>
              <a:avLst/>
              <a:gdLst/>
              <a:ahLst/>
              <a:cxnLst/>
              <a:rect r="r" b="b" t="t" l="l"/>
              <a:pathLst>
                <a:path h="13726668" w="24402414">
                  <a:moveTo>
                    <a:pt x="0" y="0"/>
                  </a:moveTo>
                  <a:lnTo>
                    <a:pt x="24402414" y="0"/>
                  </a:lnTo>
                  <a:lnTo>
                    <a:pt x="24402414" y="13726668"/>
                  </a:lnTo>
                  <a:lnTo>
                    <a:pt x="0" y="13726668"/>
                  </a:lnTo>
                  <a:close/>
                </a:path>
              </a:pathLst>
            </a:custGeom>
            <a:solidFill>
              <a:srgbClr val="F7EDE9"/>
            </a:solidFill>
          </p:spPr>
        </p:sp>
      </p:grpSp>
      <p:grpSp>
        <p:nvGrpSpPr>
          <p:cNvPr name="Group 4" id="4"/>
          <p:cNvGrpSpPr/>
          <p:nvPr/>
        </p:nvGrpSpPr>
        <p:grpSpPr>
          <a:xfrm rot="0">
            <a:off x="0" y="0"/>
            <a:ext cx="18301811" cy="10295001"/>
            <a:chOff x="0" y="0"/>
            <a:chExt cx="24402415" cy="13726668"/>
          </a:xfrm>
        </p:grpSpPr>
        <p:sp>
          <p:nvSpPr>
            <p:cNvPr name="Freeform 5" id="5"/>
            <p:cNvSpPr/>
            <p:nvPr/>
          </p:nvSpPr>
          <p:spPr>
            <a:xfrm flipH="false" flipV="false" rot="0">
              <a:off x="0" y="0"/>
              <a:ext cx="24402414" cy="13726668"/>
            </a:xfrm>
            <a:custGeom>
              <a:avLst/>
              <a:gdLst/>
              <a:ahLst/>
              <a:cxnLst/>
              <a:rect r="r" b="b" t="t" l="l"/>
              <a:pathLst>
                <a:path h="13726668" w="24402414">
                  <a:moveTo>
                    <a:pt x="0" y="0"/>
                  </a:moveTo>
                  <a:lnTo>
                    <a:pt x="24402414" y="0"/>
                  </a:lnTo>
                  <a:lnTo>
                    <a:pt x="24402414" y="13726668"/>
                  </a:lnTo>
                  <a:lnTo>
                    <a:pt x="0" y="13726668"/>
                  </a:lnTo>
                  <a:close/>
                </a:path>
              </a:pathLst>
            </a:custGeom>
            <a:solidFill>
              <a:srgbClr val="5E1024"/>
            </a:solidFill>
          </p:spPr>
        </p:sp>
      </p:grpSp>
      <p:sp>
        <p:nvSpPr>
          <p:cNvPr name="TextBox 6" id="6"/>
          <p:cNvSpPr txBox="true"/>
          <p:nvPr/>
        </p:nvSpPr>
        <p:spPr>
          <a:xfrm rot="0">
            <a:off x="6205297" y="1558747"/>
            <a:ext cx="5891093" cy="962508"/>
          </a:xfrm>
          <a:prstGeom prst="rect">
            <a:avLst/>
          </a:prstGeom>
        </p:spPr>
        <p:txBody>
          <a:bodyPr anchor="t" rtlCol="false" tIns="0" lIns="0" bIns="0" rIns="0">
            <a:spAutoFit/>
          </a:bodyPr>
          <a:lstStyle/>
          <a:p>
            <a:pPr algn="ctr">
              <a:lnSpc>
                <a:spcPts val="7680"/>
              </a:lnSpc>
            </a:pPr>
            <a:r>
              <a:rPr lang="en-US" sz="6153" b="true">
                <a:solidFill>
                  <a:srgbClr val="C9A227"/>
                </a:solidFill>
                <a:latin typeface="Crimson Pro Bold"/>
                <a:ea typeface="Crimson Pro Bold"/>
                <a:cs typeface="Crimson Pro Bold"/>
                <a:sym typeface="Crimson Pro Bold"/>
              </a:rPr>
              <a:t>Dataset Overview</a:t>
            </a:r>
          </a:p>
        </p:txBody>
      </p:sp>
      <p:grpSp>
        <p:nvGrpSpPr>
          <p:cNvPr name="Group 7" id="7"/>
          <p:cNvGrpSpPr/>
          <p:nvPr/>
        </p:nvGrpSpPr>
        <p:grpSpPr>
          <a:xfrm rot="0">
            <a:off x="2624633" y="2867035"/>
            <a:ext cx="13052584" cy="2964180"/>
            <a:chOff x="0" y="0"/>
            <a:chExt cx="17403445" cy="3952240"/>
          </a:xfrm>
        </p:grpSpPr>
        <p:sp>
          <p:nvSpPr>
            <p:cNvPr name="Freeform 8" id="8" descr="preencoded.png"/>
            <p:cNvSpPr/>
            <p:nvPr/>
          </p:nvSpPr>
          <p:spPr>
            <a:xfrm flipH="false" flipV="false" rot="0">
              <a:off x="0" y="0"/>
              <a:ext cx="17403445" cy="3952240"/>
            </a:xfrm>
            <a:custGeom>
              <a:avLst/>
              <a:gdLst/>
              <a:ahLst/>
              <a:cxnLst/>
              <a:rect r="r" b="b" t="t" l="l"/>
              <a:pathLst>
                <a:path h="3952240" w="17403445">
                  <a:moveTo>
                    <a:pt x="0" y="0"/>
                  </a:moveTo>
                  <a:lnTo>
                    <a:pt x="17403445" y="0"/>
                  </a:lnTo>
                  <a:lnTo>
                    <a:pt x="17403445" y="3952240"/>
                  </a:lnTo>
                  <a:lnTo>
                    <a:pt x="0" y="3952240"/>
                  </a:lnTo>
                  <a:lnTo>
                    <a:pt x="0" y="0"/>
                  </a:lnTo>
                  <a:close/>
                </a:path>
              </a:pathLst>
            </a:custGeom>
            <a:blipFill>
              <a:blip r:embed="rId3"/>
              <a:stretch>
                <a:fillRect l="0" t="-49" r="0" b="-49"/>
              </a:stretch>
            </a:blipFill>
          </p:spPr>
        </p:sp>
      </p:grpSp>
      <p:sp>
        <p:nvSpPr>
          <p:cNvPr name="Freeform 9" id="9"/>
          <p:cNvSpPr/>
          <p:nvPr/>
        </p:nvSpPr>
        <p:spPr>
          <a:xfrm flipH="false" flipV="false" rot="0">
            <a:off x="967969" y="6541341"/>
            <a:ext cx="5367547" cy="1351521"/>
          </a:xfrm>
          <a:custGeom>
            <a:avLst/>
            <a:gdLst/>
            <a:ahLst/>
            <a:cxnLst/>
            <a:rect r="r" b="b" t="t" l="l"/>
            <a:pathLst>
              <a:path h="1351521" w="5367547">
                <a:moveTo>
                  <a:pt x="0" y="0"/>
                </a:moveTo>
                <a:lnTo>
                  <a:pt x="5367547" y="0"/>
                </a:lnTo>
                <a:lnTo>
                  <a:pt x="5367547" y="1351522"/>
                </a:lnTo>
                <a:lnTo>
                  <a:pt x="0" y="135152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0" id="10"/>
          <p:cNvSpPr txBox="true"/>
          <p:nvPr/>
        </p:nvSpPr>
        <p:spPr>
          <a:xfrm rot="0">
            <a:off x="1248575" y="6764807"/>
            <a:ext cx="2837469" cy="411785"/>
          </a:xfrm>
          <a:prstGeom prst="rect">
            <a:avLst/>
          </a:prstGeom>
        </p:spPr>
        <p:txBody>
          <a:bodyPr anchor="t" rtlCol="false" tIns="0" lIns="0" bIns="0" rIns="0">
            <a:spAutoFit/>
          </a:bodyPr>
          <a:lstStyle/>
          <a:p>
            <a:pPr algn="l">
              <a:lnSpc>
                <a:spcPts val="2716"/>
              </a:lnSpc>
            </a:pPr>
            <a:r>
              <a:rPr lang="en-US" sz="2176" b="true">
                <a:solidFill>
                  <a:srgbClr val="FFFFFF"/>
                </a:solidFill>
                <a:latin typeface="Crimson Pro Bold"/>
                <a:ea typeface="Crimson Pro Bold"/>
                <a:cs typeface="Crimson Pro Bold"/>
                <a:sym typeface="Crimson Pro Bold"/>
              </a:rPr>
              <a:t>Dataset</a:t>
            </a:r>
          </a:p>
        </p:txBody>
      </p:sp>
      <p:sp>
        <p:nvSpPr>
          <p:cNvPr name="TextBox 11" id="11"/>
          <p:cNvSpPr txBox="true"/>
          <p:nvPr/>
        </p:nvSpPr>
        <p:spPr>
          <a:xfrm rot="0">
            <a:off x="1248575" y="7228322"/>
            <a:ext cx="4806315" cy="383934"/>
          </a:xfrm>
          <a:prstGeom prst="rect">
            <a:avLst/>
          </a:prstGeom>
        </p:spPr>
        <p:txBody>
          <a:bodyPr anchor="t" rtlCol="false" tIns="0" lIns="0" bIns="0" rIns="0">
            <a:spAutoFit/>
          </a:bodyPr>
          <a:lstStyle/>
          <a:p>
            <a:pPr algn="l">
              <a:lnSpc>
                <a:spcPts val="2485"/>
              </a:lnSpc>
            </a:pPr>
            <a:r>
              <a:rPr lang="en-US" sz="1726">
                <a:solidFill>
                  <a:srgbClr val="FFFFFF"/>
                </a:solidFill>
                <a:latin typeface="Open Sans"/>
                <a:ea typeface="Open Sans"/>
                <a:cs typeface="Open Sans"/>
                <a:sym typeface="Open Sans"/>
              </a:rPr>
              <a:t>Wine Quality Dataset</a:t>
            </a:r>
          </a:p>
        </p:txBody>
      </p:sp>
      <p:sp>
        <p:nvSpPr>
          <p:cNvPr name="Freeform 12" id="12"/>
          <p:cNvSpPr/>
          <p:nvPr/>
        </p:nvSpPr>
        <p:spPr>
          <a:xfrm flipH="false" flipV="false" rot="0">
            <a:off x="6467008" y="6541341"/>
            <a:ext cx="5367642" cy="1351521"/>
          </a:xfrm>
          <a:custGeom>
            <a:avLst/>
            <a:gdLst/>
            <a:ahLst/>
            <a:cxnLst/>
            <a:rect r="r" b="b" t="t" l="l"/>
            <a:pathLst>
              <a:path h="1351521" w="5367642">
                <a:moveTo>
                  <a:pt x="0" y="0"/>
                </a:moveTo>
                <a:lnTo>
                  <a:pt x="5367643" y="0"/>
                </a:lnTo>
                <a:lnTo>
                  <a:pt x="5367643" y="1351522"/>
                </a:lnTo>
                <a:lnTo>
                  <a:pt x="0" y="135152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3" id="13"/>
          <p:cNvSpPr txBox="true"/>
          <p:nvPr/>
        </p:nvSpPr>
        <p:spPr>
          <a:xfrm rot="0">
            <a:off x="6747615" y="6764807"/>
            <a:ext cx="2837469" cy="411785"/>
          </a:xfrm>
          <a:prstGeom prst="rect">
            <a:avLst/>
          </a:prstGeom>
        </p:spPr>
        <p:txBody>
          <a:bodyPr anchor="t" rtlCol="false" tIns="0" lIns="0" bIns="0" rIns="0">
            <a:spAutoFit/>
          </a:bodyPr>
          <a:lstStyle/>
          <a:p>
            <a:pPr algn="l">
              <a:lnSpc>
                <a:spcPts val="2716"/>
              </a:lnSpc>
            </a:pPr>
            <a:r>
              <a:rPr lang="en-US" sz="2176" b="true">
                <a:solidFill>
                  <a:srgbClr val="FFFFFF"/>
                </a:solidFill>
                <a:latin typeface="Crimson Pro Bold"/>
                <a:ea typeface="Crimson Pro Bold"/>
                <a:cs typeface="Crimson Pro Bold"/>
                <a:sym typeface="Crimson Pro Bold"/>
              </a:rPr>
              <a:t>Source</a:t>
            </a:r>
          </a:p>
        </p:txBody>
      </p:sp>
      <p:sp>
        <p:nvSpPr>
          <p:cNvPr name="TextBox 14" id="14"/>
          <p:cNvSpPr txBox="true"/>
          <p:nvPr/>
        </p:nvSpPr>
        <p:spPr>
          <a:xfrm rot="0">
            <a:off x="6747615" y="7228322"/>
            <a:ext cx="4806467" cy="383934"/>
          </a:xfrm>
          <a:prstGeom prst="rect">
            <a:avLst/>
          </a:prstGeom>
        </p:spPr>
        <p:txBody>
          <a:bodyPr anchor="t" rtlCol="false" tIns="0" lIns="0" bIns="0" rIns="0">
            <a:spAutoFit/>
          </a:bodyPr>
          <a:lstStyle/>
          <a:p>
            <a:pPr algn="l">
              <a:lnSpc>
                <a:spcPts val="2485"/>
              </a:lnSpc>
            </a:pPr>
            <a:r>
              <a:rPr lang="en-US" sz="1726">
                <a:solidFill>
                  <a:srgbClr val="FFFFFF"/>
                </a:solidFill>
                <a:latin typeface="Open Sans"/>
                <a:ea typeface="Open Sans"/>
                <a:cs typeface="Open Sans"/>
                <a:sym typeface="Open Sans"/>
              </a:rPr>
              <a:t>Kaggle</a:t>
            </a:r>
          </a:p>
        </p:txBody>
      </p:sp>
      <p:sp>
        <p:nvSpPr>
          <p:cNvPr name="Freeform 15" id="15"/>
          <p:cNvSpPr/>
          <p:nvPr/>
        </p:nvSpPr>
        <p:spPr>
          <a:xfrm flipH="false" flipV="false" rot="0">
            <a:off x="11966200" y="6541341"/>
            <a:ext cx="5367642" cy="1351521"/>
          </a:xfrm>
          <a:custGeom>
            <a:avLst/>
            <a:gdLst/>
            <a:ahLst/>
            <a:cxnLst/>
            <a:rect r="r" b="b" t="t" l="l"/>
            <a:pathLst>
              <a:path h="1351521" w="5367642">
                <a:moveTo>
                  <a:pt x="0" y="0"/>
                </a:moveTo>
                <a:lnTo>
                  <a:pt x="5367643" y="0"/>
                </a:lnTo>
                <a:lnTo>
                  <a:pt x="5367643" y="1351522"/>
                </a:lnTo>
                <a:lnTo>
                  <a:pt x="0" y="135152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6" id="16"/>
          <p:cNvSpPr txBox="true"/>
          <p:nvPr/>
        </p:nvSpPr>
        <p:spPr>
          <a:xfrm rot="0">
            <a:off x="12246807" y="6764807"/>
            <a:ext cx="2837469" cy="411785"/>
          </a:xfrm>
          <a:prstGeom prst="rect">
            <a:avLst/>
          </a:prstGeom>
        </p:spPr>
        <p:txBody>
          <a:bodyPr anchor="t" rtlCol="false" tIns="0" lIns="0" bIns="0" rIns="0">
            <a:spAutoFit/>
          </a:bodyPr>
          <a:lstStyle/>
          <a:p>
            <a:pPr algn="l">
              <a:lnSpc>
                <a:spcPts val="2716"/>
              </a:lnSpc>
            </a:pPr>
            <a:r>
              <a:rPr lang="en-US" sz="2176" b="true">
                <a:solidFill>
                  <a:srgbClr val="FFFFFF"/>
                </a:solidFill>
                <a:latin typeface="Crimson Pro Bold"/>
                <a:ea typeface="Crimson Pro Bold"/>
                <a:cs typeface="Crimson Pro Bold"/>
                <a:sym typeface="Crimson Pro Bold"/>
              </a:rPr>
              <a:t>Features</a:t>
            </a:r>
          </a:p>
        </p:txBody>
      </p:sp>
      <p:sp>
        <p:nvSpPr>
          <p:cNvPr name="TextBox 17" id="17"/>
          <p:cNvSpPr txBox="true"/>
          <p:nvPr/>
        </p:nvSpPr>
        <p:spPr>
          <a:xfrm rot="0">
            <a:off x="12246807" y="7228322"/>
            <a:ext cx="4806467" cy="383934"/>
          </a:xfrm>
          <a:prstGeom prst="rect">
            <a:avLst/>
          </a:prstGeom>
        </p:spPr>
        <p:txBody>
          <a:bodyPr anchor="t" rtlCol="false" tIns="0" lIns="0" bIns="0" rIns="0">
            <a:spAutoFit/>
          </a:bodyPr>
          <a:lstStyle/>
          <a:p>
            <a:pPr algn="l">
              <a:lnSpc>
                <a:spcPts val="2485"/>
              </a:lnSpc>
            </a:pPr>
            <a:r>
              <a:rPr lang="en-US" sz="1726">
                <a:solidFill>
                  <a:srgbClr val="FFFFFF"/>
                </a:solidFill>
                <a:latin typeface="Open Sans"/>
                <a:ea typeface="Open Sans"/>
                <a:cs typeface="Open Sans"/>
                <a:sym typeface="Open Sans"/>
              </a:rPr>
              <a:t>11 chemical properties of wine</a:t>
            </a:r>
          </a:p>
        </p:txBody>
      </p:sp>
      <p:sp>
        <p:nvSpPr>
          <p:cNvPr name="Freeform 18" id="18"/>
          <p:cNvSpPr/>
          <p:nvPr/>
        </p:nvSpPr>
        <p:spPr>
          <a:xfrm flipH="false" flipV="false" rot="0">
            <a:off x="967969" y="8024384"/>
            <a:ext cx="8117129" cy="1351521"/>
          </a:xfrm>
          <a:custGeom>
            <a:avLst/>
            <a:gdLst/>
            <a:ahLst/>
            <a:cxnLst/>
            <a:rect r="r" b="b" t="t" l="l"/>
            <a:pathLst>
              <a:path h="1351521" w="8117129">
                <a:moveTo>
                  <a:pt x="0" y="0"/>
                </a:moveTo>
                <a:lnTo>
                  <a:pt x="8117128" y="0"/>
                </a:lnTo>
                <a:lnTo>
                  <a:pt x="8117128" y="1351521"/>
                </a:lnTo>
                <a:lnTo>
                  <a:pt x="0" y="135152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19" id="19"/>
          <p:cNvSpPr txBox="true"/>
          <p:nvPr/>
        </p:nvSpPr>
        <p:spPr>
          <a:xfrm rot="0">
            <a:off x="1248575" y="8247850"/>
            <a:ext cx="2837469" cy="411785"/>
          </a:xfrm>
          <a:prstGeom prst="rect">
            <a:avLst/>
          </a:prstGeom>
        </p:spPr>
        <p:txBody>
          <a:bodyPr anchor="t" rtlCol="false" tIns="0" lIns="0" bIns="0" rIns="0">
            <a:spAutoFit/>
          </a:bodyPr>
          <a:lstStyle/>
          <a:p>
            <a:pPr algn="l">
              <a:lnSpc>
                <a:spcPts val="2716"/>
              </a:lnSpc>
            </a:pPr>
            <a:r>
              <a:rPr lang="en-US" sz="2176" b="true">
                <a:solidFill>
                  <a:srgbClr val="FFFFFF"/>
                </a:solidFill>
                <a:latin typeface="Crimson Pro Bold"/>
                <a:ea typeface="Crimson Pro Bold"/>
                <a:cs typeface="Crimson Pro Bold"/>
                <a:sym typeface="Crimson Pro Bold"/>
              </a:rPr>
              <a:t>Target Variable</a:t>
            </a:r>
          </a:p>
        </p:txBody>
      </p:sp>
      <p:sp>
        <p:nvSpPr>
          <p:cNvPr name="TextBox 20" id="20"/>
          <p:cNvSpPr txBox="true"/>
          <p:nvPr/>
        </p:nvSpPr>
        <p:spPr>
          <a:xfrm rot="0">
            <a:off x="1248575" y="8711365"/>
            <a:ext cx="7555916" cy="383934"/>
          </a:xfrm>
          <a:prstGeom prst="rect">
            <a:avLst/>
          </a:prstGeom>
        </p:spPr>
        <p:txBody>
          <a:bodyPr anchor="t" rtlCol="false" tIns="0" lIns="0" bIns="0" rIns="0">
            <a:spAutoFit/>
          </a:bodyPr>
          <a:lstStyle/>
          <a:p>
            <a:pPr algn="l">
              <a:lnSpc>
                <a:spcPts val="2485"/>
              </a:lnSpc>
            </a:pPr>
            <a:r>
              <a:rPr lang="en-US" sz="1726">
                <a:solidFill>
                  <a:srgbClr val="FFFFFF"/>
                </a:solidFill>
                <a:latin typeface="Open Sans"/>
                <a:ea typeface="Open Sans"/>
                <a:cs typeface="Open Sans"/>
                <a:sym typeface="Open Sans"/>
              </a:rPr>
              <a:t>Quality Score</a:t>
            </a:r>
          </a:p>
        </p:txBody>
      </p:sp>
      <p:sp>
        <p:nvSpPr>
          <p:cNvPr name="Freeform 21" id="21"/>
          <p:cNvSpPr/>
          <p:nvPr/>
        </p:nvSpPr>
        <p:spPr>
          <a:xfrm flipH="false" flipV="false" rot="0">
            <a:off x="9216600" y="8024384"/>
            <a:ext cx="8117319" cy="1351521"/>
          </a:xfrm>
          <a:custGeom>
            <a:avLst/>
            <a:gdLst/>
            <a:ahLst/>
            <a:cxnLst/>
            <a:rect r="r" b="b" t="t" l="l"/>
            <a:pathLst>
              <a:path h="1351521" w="8117319">
                <a:moveTo>
                  <a:pt x="0" y="0"/>
                </a:moveTo>
                <a:lnTo>
                  <a:pt x="8117319" y="0"/>
                </a:lnTo>
                <a:lnTo>
                  <a:pt x="8117319" y="1351521"/>
                </a:lnTo>
                <a:lnTo>
                  <a:pt x="0" y="1351521"/>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22" id="22"/>
          <p:cNvSpPr txBox="true"/>
          <p:nvPr/>
        </p:nvSpPr>
        <p:spPr>
          <a:xfrm rot="0">
            <a:off x="9497206" y="8247850"/>
            <a:ext cx="2837469" cy="411785"/>
          </a:xfrm>
          <a:prstGeom prst="rect">
            <a:avLst/>
          </a:prstGeom>
        </p:spPr>
        <p:txBody>
          <a:bodyPr anchor="t" rtlCol="false" tIns="0" lIns="0" bIns="0" rIns="0">
            <a:spAutoFit/>
          </a:bodyPr>
          <a:lstStyle/>
          <a:p>
            <a:pPr algn="l">
              <a:lnSpc>
                <a:spcPts val="2716"/>
              </a:lnSpc>
            </a:pPr>
            <a:r>
              <a:rPr lang="en-US" sz="2176" b="true">
                <a:solidFill>
                  <a:srgbClr val="FFFFFF"/>
                </a:solidFill>
                <a:latin typeface="Crimson Pro Bold"/>
                <a:ea typeface="Crimson Pro Bold"/>
                <a:cs typeface="Crimson Pro Bold"/>
                <a:sym typeface="Crimson Pro Bold"/>
              </a:rPr>
              <a:t>Target Classes</a:t>
            </a:r>
          </a:p>
        </p:txBody>
      </p:sp>
      <p:sp>
        <p:nvSpPr>
          <p:cNvPr name="TextBox 23" id="23"/>
          <p:cNvSpPr txBox="true"/>
          <p:nvPr/>
        </p:nvSpPr>
        <p:spPr>
          <a:xfrm rot="0">
            <a:off x="9497206" y="8711365"/>
            <a:ext cx="7556059" cy="290347"/>
          </a:xfrm>
          <a:prstGeom prst="rect">
            <a:avLst/>
          </a:prstGeom>
        </p:spPr>
        <p:txBody>
          <a:bodyPr anchor="t" rtlCol="false" tIns="0" lIns="0" bIns="0" rIns="0">
            <a:spAutoFit/>
          </a:bodyPr>
          <a:lstStyle/>
          <a:p>
            <a:pPr algn="l">
              <a:lnSpc>
                <a:spcPts val="2485"/>
              </a:lnSpc>
            </a:pPr>
            <a:r>
              <a:rPr lang="en-US" sz="1726">
                <a:solidFill>
                  <a:srgbClr val="FFFFFF"/>
                </a:solidFill>
                <a:latin typeface="Open Sans"/>
                <a:ea typeface="Open Sans"/>
                <a:cs typeface="Open Sans"/>
                <a:sym typeface="Open Sans"/>
              </a:rPr>
              <a:t>Quality ratings ranging from 0 to 10</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0" y="0"/>
            <a:ext cx="18301811" cy="10295001"/>
            <a:chOff x="0" y="0"/>
            <a:chExt cx="24402415" cy="13726668"/>
          </a:xfrm>
        </p:grpSpPr>
        <p:sp>
          <p:nvSpPr>
            <p:cNvPr name="Freeform 3" id="3"/>
            <p:cNvSpPr/>
            <p:nvPr/>
          </p:nvSpPr>
          <p:spPr>
            <a:xfrm flipH="false" flipV="false" rot="0">
              <a:off x="0" y="0"/>
              <a:ext cx="24402414" cy="13726668"/>
            </a:xfrm>
            <a:custGeom>
              <a:avLst/>
              <a:gdLst/>
              <a:ahLst/>
              <a:cxnLst/>
              <a:rect r="r" b="b" t="t" l="l"/>
              <a:pathLst>
                <a:path h="13726668" w="24402414">
                  <a:moveTo>
                    <a:pt x="0" y="0"/>
                  </a:moveTo>
                  <a:lnTo>
                    <a:pt x="24402414" y="0"/>
                  </a:lnTo>
                  <a:lnTo>
                    <a:pt x="24402414" y="13726668"/>
                  </a:lnTo>
                  <a:lnTo>
                    <a:pt x="0" y="13726668"/>
                  </a:lnTo>
                  <a:close/>
                </a:path>
              </a:pathLst>
            </a:custGeom>
            <a:solidFill>
              <a:srgbClr val="F7EDE9"/>
            </a:solidFill>
          </p:spPr>
        </p:sp>
      </p:grpSp>
      <p:grpSp>
        <p:nvGrpSpPr>
          <p:cNvPr name="Group 4" id="4"/>
          <p:cNvGrpSpPr/>
          <p:nvPr/>
        </p:nvGrpSpPr>
        <p:grpSpPr>
          <a:xfrm rot="0">
            <a:off x="0" y="0"/>
            <a:ext cx="18301811" cy="10295001"/>
            <a:chOff x="0" y="0"/>
            <a:chExt cx="24402415" cy="13726668"/>
          </a:xfrm>
        </p:grpSpPr>
        <p:sp>
          <p:nvSpPr>
            <p:cNvPr name="Freeform 5" id="5"/>
            <p:cNvSpPr/>
            <p:nvPr/>
          </p:nvSpPr>
          <p:spPr>
            <a:xfrm flipH="false" flipV="false" rot="0">
              <a:off x="0" y="0"/>
              <a:ext cx="24402414" cy="13726668"/>
            </a:xfrm>
            <a:custGeom>
              <a:avLst/>
              <a:gdLst/>
              <a:ahLst/>
              <a:cxnLst/>
              <a:rect r="r" b="b" t="t" l="l"/>
              <a:pathLst>
                <a:path h="13726668" w="24402414">
                  <a:moveTo>
                    <a:pt x="0" y="0"/>
                  </a:moveTo>
                  <a:lnTo>
                    <a:pt x="24402414" y="0"/>
                  </a:lnTo>
                  <a:lnTo>
                    <a:pt x="24402414" y="13726668"/>
                  </a:lnTo>
                  <a:lnTo>
                    <a:pt x="0" y="13726668"/>
                  </a:lnTo>
                  <a:close/>
                </a:path>
              </a:pathLst>
            </a:custGeom>
            <a:solidFill>
              <a:srgbClr val="5E1024"/>
            </a:solidFill>
          </p:spPr>
        </p:sp>
      </p:grpSp>
      <p:sp>
        <p:nvSpPr>
          <p:cNvPr name="TextBox 6" id="6"/>
          <p:cNvSpPr txBox="true"/>
          <p:nvPr/>
        </p:nvSpPr>
        <p:spPr>
          <a:xfrm rot="0">
            <a:off x="5146500" y="1453325"/>
            <a:ext cx="8008696" cy="981913"/>
          </a:xfrm>
          <a:prstGeom prst="rect">
            <a:avLst/>
          </a:prstGeom>
        </p:spPr>
        <p:txBody>
          <a:bodyPr anchor="t" rtlCol="false" tIns="0" lIns="0" bIns="0" rIns="0">
            <a:spAutoFit/>
          </a:bodyPr>
          <a:lstStyle/>
          <a:p>
            <a:pPr algn="ctr">
              <a:lnSpc>
                <a:spcPts val="6930"/>
              </a:lnSpc>
            </a:pPr>
            <a:r>
              <a:rPr lang="en-US" sz="5553" b="true">
                <a:solidFill>
                  <a:srgbClr val="C9A227"/>
                </a:solidFill>
                <a:latin typeface="Crimson Pro Bold"/>
                <a:ea typeface="Crimson Pro Bold"/>
                <a:cs typeface="Crimson Pro Bold"/>
                <a:sym typeface="Crimson Pro Bold"/>
              </a:rPr>
              <a:t>Features Used</a:t>
            </a:r>
          </a:p>
        </p:txBody>
      </p:sp>
      <p:sp>
        <p:nvSpPr>
          <p:cNvPr name="TextBox 7" id="7"/>
          <p:cNvSpPr txBox="true"/>
          <p:nvPr/>
        </p:nvSpPr>
        <p:spPr>
          <a:xfrm rot="0">
            <a:off x="992991" y="2850318"/>
            <a:ext cx="17230954" cy="606381"/>
          </a:xfrm>
          <a:prstGeom prst="rect">
            <a:avLst/>
          </a:prstGeom>
        </p:spPr>
        <p:txBody>
          <a:bodyPr anchor="t" rtlCol="false" tIns="0" lIns="0" bIns="0" rIns="0">
            <a:spAutoFit/>
          </a:bodyPr>
          <a:lstStyle/>
          <a:p>
            <a:pPr algn="l">
              <a:lnSpc>
                <a:spcPts val="3474"/>
              </a:lnSpc>
            </a:pPr>
            <a:r>
              <a:rPr lang="en-US" sz="2176">
                <a:solidFill>
                  <a:srgbClr val="FFFFFF"/>
                </a:solidFill>
                <a:latin typeface="Open Sans"/>
                <a:ea typeface="Open Sans"/>
                <a:cs typeface="Open Sans"/>
                <a:sym typeface="Open Sans"/>
              </a:rPr>
              <a:t>The model uses </a:t>
            </a:r>
            <a:r>
              <a:rPr lang="en-US" sz="2176" b="true">
                <a:solidFill>
                  <a:srgbClr val="FFFFFF"/>
                </a:solidFill>
                <a:latin typeface="Open Sans Bold"/>
                <a:ea typeface="Open Sans Bold"/>
                <a:cs typeface="Open Sans Bold"/>
                <a:sym typeface="Open Sans Bold"/>
              </a:rPr>
              <a:t>11 physicochemical properties</a:t>
            </a:r>
            <a:r>
              <a:rPr lang="en-US" sz="2176">
                <a:solidFill>
                  <a:srgbClr val="FFFFFF"/>
                </a:solidFill>
                <a:latin typeface="Open Sans"/>
                <a:ea typeface="Open Sans"/>
                <a:cs typeface="Open Sans"/>
                <a:sym typeface="Open Sans"/>
              </a:rPr>
              <a:t> of wine as input features to predict quality:</a:t>
            </a:r>
          </a:p>
        </p:txBody>
      </p:sp>
      <p:sp>
        <p:nvSpPr>
          <p:cNvPr name="Freeform 8" id="8"/>
          <p:cNvSpPr/>
          <p:nvPr/>
        </p:nvSpPr>
        <p:spPr>
          <a:xfrm flipH="false" flipV="false" rot="0">
            <a:off x="984647" y="3767557"/>
            <a:ext cx="5266096" cy="1046521"/>
          </a:xfrm>
          <a:custGeom>
            <a:avLst/>
            <a:gdLst/>
            <a:ahLst/>
            <a:cxnLst/>
            <a:rect r="r" b="b" t="t" l="l"/>
            <a:pathLst>
              <a:path h="1046521" w="5266096">
                <a:moveTo>
                  <a:pt x="0" y="0"/>
                </a:moveTo>
                <a:lnTo>
                  <a:pt x="5266096" y="0"/>
                </a:lnTo>
                <a:lnTo>
                  <a:pt x="5266096" y="1046521"/>
                </a:lnTo>
                <a:lnTo>
                  <a:pt x="0" y="104652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9" id="9"/>
          <p:cNvSpPr txBox="true"/>
          <p:nvPr/>
        </p:nvSpPr>
        <p:spPr>
          <a:xfrm rot="0">
            <a:off x="1286256" y="4012016"/>
            <a:ext cx="3546729" cy="500405"/>
          </a:xfrm>
          <a:prstGeom prst="rect">
            <a:avLst/>
          </a:prstGeom>
        </p:spPr>
        <p:txBody>
          <a:bodyPr anchor="t" rtlCol="false" tIns="0" lIns="0" bIns="0" rIns="0">
            <a:spAutoFit/>
          </a:bodyPr>
          <a:lstStyle/>
          <a:p>
            <a:pPr algn="l">
              <a:lnSpc>
                <a:spcPts val="3465"/>
              </a:lnSpc>
            </a:pPr>
            <a:r>
              <a:rPr lang="en-US" sz="2776" b="true">
                <a:solidFill>
                  <a:srgbClr val="000000"/>
                </a:solidFill>
                <a:latin typeface="Crimson Pro Bold"/>
                <a:ea typeface="Crimson Pro Bold"/>
                <a:cs typeface="Crimson Pro Bold"/>
                <a:sym typeface="Crimson Pro Bold"/>
              </a:rPr>
              <a:t>Fixed Acidity</a:t>
            </a:r>
          </a:p>
        </p:txBody>
      </p:sp>
      <p:sp>
        <p:nvSpPr>
          <p:cNvPr name="Freeform 10" id="10"/>
          <p:cNvSpPr/>
          <p:nvPr/>
        </p:nvSpPr>
        <p:spPr>
          <a:xfrm flipH="false" flipV="false" rot="0">
            <a:off x="6517796" y="3767557"/>
            <a:ext cx="5266096" cy="1046521"/>
          </a:xfrm>
          <a:custGeom>
            <a:avLst/>
            <a:gdLst/>
            <a:ahLst/>
            <a:cxnLst/>
            <a:rect r="r" b="b" t="t" l="l"/>
            <a:pathLst>
              <a:path h="1046521" w="5266096">
                <a:moveTo>
                  <a:pt x="0" y="0"/>
                </a:moveTo>
                <a:lnTo>
                  <a:pt x="5266096" y="0"/>
                </a:lnTo>
                <a:lnTo>
                  <a:pt x="5266096" y="1046521"/>
                </a:lnTo>
                <a:lnTo>
                  <a:pt x="0" y="104652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1" id="11"/>
          <p:cNvSpPr txBox="true"/>
          <p:nvPr/>
        </p:nvSpPr>
        <p:spPr>
          <a:xfrm rot="0">
            <a:off x="6819405" y="4012016"/>
            <a:ext cx="3546729" cy="500405"/>
          </a:xfrm>
          <a:prstGeom prst="rect">
            <a:avLst/>
          </a:prstGeom>
        </p:spPr>
        <p:txBody>
          <a:bodyPr anchor="t" rtlCol="false" tIns="0" lIns="0" bIns="0" rIns="0">
            <a:spAutoFit/>
          </a:bodyPr>
          <a:lstStyle/>
          <a:p>
            <a:pPr algn="l">
              <a:lnSpc>
                <a:spcPts val="3465"/>
              </a:lnSpc>
            </a:pPr>
            <a:r>
              <a:rPr lang="en-US" sz="2776" b="true">
                <a:solidFill>
                  <a:srgbClr val="000000"/>
                </a:solidFill>
                <a:latin typeface="Crimson Pro Bold"/>
                <a:ea typeface="Crimson Pro Bold"/>
                <a:cs typeface="Crimson Pro Bold"/>
                <a:sym typeface="Crimson Pro Bold"/>
              </a:rPr>
              <a:t>Volatile Acidity</a:t>
            </a:r>
          </a:p>
        </p:txBody>
      </p:sp>
      <p:sp>
        <p:nvSpPr>
          <p:cNvPr name="Freeform 12" id="12"/>
          <p:cNvSpPr/>
          <p:nvPr/>
        </p:nvSpPr>
        <p:spPr>
          <a:xfrm flipH="false" flipV="false" rot="0">
            <a:off x="12050954" y="3767557"/>
            <a:ext cx="5266096" cy="1046521"/>
          </a:xfrm>
          <a:custGeom>
            <a:avLst/>
            <a:gdLst/>
            <a:ahLst/>
            <a:cxnLst/>
            <a:rect r="r" b="b" t="t" l="l"/>
            <a:pathLst>
              <a:path h="1046521" w="5266096">
                <a:moveTo>
                  <a:pt x="0" y="0"/>
                </a:moveTo>
                <a:lnTo>
                  <a:pt x="5266096" y="0"/>
                </a:lnTo>
                <a:lnTo>
                  <a:pt x="5266096" y="1046521"/>
                </a:lnTo>
                <a:lnTo>
                  <a:pt x="0" y="104652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3" id="13"/>
          <p:cNvSpPr txBox="true"/>
          <p:nvPr/>
        </p:nvSpPr>
        <p:spPr>
          <a:xfrm rot="0">
            <a:off x="12352553" y="4012016"/>
            <a:ext cx="3546729" cy="500405"/>
          </a:xfrm>
          <a:prstGeom prst="rect">
            <a:avLst/>
          </a:prstGeom>
        </p:spPr>
        <p:txBody>
          <a:bodyPr anchor="t" rtlCol="false" tIns="0" lIns="0" bIns="0" rIns="0">
            <a:spAutoFit/>
          </a:bodyPr>
          <a:lstStyle/>
          <a:p>
            <a:pPr algn="l">
              <a:lnSpc>
                <a:spcPts val="3465"/>
              </a:lnSpc>
            </a:pPr>
            <a:r>
              <a:rPr lang="en-US" sz="2776" b="true">
                <a:solidFill>
                  <a:srgbClr val="000000"/>
                </a:solidFill>
                <a:latin typeface="Crimson Pro Bold"/>
                <a:ea typeface="Crimson Pro Bold"/>
                <a:cs typeface="Crimson Pro Bold"/>
                <a:sym typeface="Crimson Pro Bold"/>
              </a:rPr>
              <a:t>Citric Acid</a:t>
            </a:r>
          </a:p>
        </p:txBody>
      </p:sp>
      <p:sp>
        <p:nvSpPr>
          <p:cNvPr name="Freeform 14" id="14"/>
          <p:cNvSpPr/>
          <p:nvPr/>
        </p:nvSpPr>
        <p:spPr>
          <a:xfrm flipH="false" flipV="false" rot="0">
            <a:off x="984647" y="5081092"/>
            <a:ext cx="5266096" cy="1046521"/>
          </a:xfrm>
          <a:custGeom>
            <a:avLst/>
            <a:gdLst/>
            <a:ahLst/>
            <a:cxnLst/>
            <a:rect r="r" b="b" t="t" l="l"/>
            <a:pathLst>
              <a:path h="1046521" w="5266096">
                <a:moveTo>
                  <a:pt x="0" y="0"/>
                </a:moveTo>
                <a:lnTo>
                  <a:pt x="5266096" y="0"/>
                </a:lnTo>
                <a:lnTo>
                  <a:pt x="5266096" y="1046521"/>
                </a:lnTo>
                <a:lnTo>
                  <a:pt x="0" y="104652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5" id="15"/>
          <p:cNvSpPr txBox="true"/>
          <p:nvPr/>
        </p:nvSpPr>
        <p:spPr>
          <a:xfrm rot="0">
            <a:off x="1286256" y="5325551"/>
            <a:ext cx="3546729" cy="500405"/>
          </a:xfrm>
          <a:prstGeom prst="rect">
            <a:avLst/>
          </a:prstGeom>
        </p:spPr>
        <p:txBody>
          <a:bodyPr anchor="t" rtlCol="false" tIns="0" lIns="0" bIns="0" rIns="0">
            <a:spAutoFit/>
          </a:bodyPr>
          <a:lstStyle/>
          <a:p>
            <a:pPr algn="l">
              <a:lnSpc>
                <a:spcPts val="3465"/>
              </a:lnSpc>
            </a:pPr>
            <a:r>
              <a:rPr lang="en-US" sz="2776" b="true">
                <a:solidFill>
                  <a:srgbClr val="000000"/>
                </a:solidFill>
                <a:latin typeface="Crimson Pro Bold"/>
                <a:ea typeface="Crimson Pro Bold"/>
                <a:cs typeface="Crimson Pro Bold"/>
                <a:sym typeface="Crimson Pro Bold"/>
              </a:rPr>
              <a:t>Residual Sugar</a:t>
            </a:r>
          </a:p>
        </p:txBody>
      </p:sp>
      <p:sp>
        <p:nvSpPr>
          <p:cNvPr name="Freeform 16" id="16"/>
          <p:cNvSpPr/>
          <p:nvPr/>
        </p:nvSpPr>
        <p:spPr>
          <a:xfrm flipH="false" flipV="false" rot="0">
            <a:off x="6517796" y="5081092"/>
            <a:ext cx="5266096" cy="1046521"/>
          </a:xfrm>
          <a:custGeom>
            <a:avLst/>
            <a:gdLst/>
            <a:ahLst/>
            <a:cxnLst/>
            <a:rect r="r" b="b" t="t" l="l"/>
            <a:pathLst>
              <a:path h="1046521" w="5266096">
                <a:moveTo>
                  <a:pt x="0" y="0"/>
                </a:moveTo>
                <a:lnTo>
                  <a:pt x="5266096" y="0"/>
                </a:lnTo>
                <a:lnTo>
                  <a:pt x="5266096" y="1046521"/>
                </a:lnTo>
                <a:lnTo>
                  <a:pt x="0" y="104652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7" id="17"/>
          <p:cNvSpPr txBox="true"/>
          <p:nvPr/>
        </p:nvSpPr>
        <p:spPr>
          <a:xfrm rot="0">
            <a:off x="6819405" y="5325551"/>
            <a:ext cx="3546729" cy="500405"/>
          </a:xfrm>
          <a:prstGeom prst="rect">
            <a:avLst/>
          </a:prstGeom>
        </p:spPr>
        <p:txBody>
          <a:bodyPr anchor="t" rtlCol="false" tIns="0" lIns="0" bIns="0" rIns="0">
            <a:spAutoFit/>
          </a:bodyPr>
          <a:lstStyle/>
          <a:p>
            <a:pPr algn="l">
              <a:lnSpc>
                <a:spcPts val="3465"/>
              </a:lnSpc>
            </a:pPr>
            <a:r>
              <a:rPr lang="en-US" sz="2776" b="true">
                <a:solidFill>
                  <a:srgbClr val="000000"/>
                </a:solidFill>
                <a:latin typeface="Crimson Pro Bold"/>
                <a:ea typeface="Crimson Pro Bold"/>
                <a:cs typeface="Crimson Pro Bold"/>
                <a:sym typeface="Crimson Pro Bold"/>
              </a:rPr>
              <a:t>Chlorides</a:t>
            </a:r>
          </a:p>
        </p:txBody>
      </p:sp>
      <p:sp>
        <p:nvSpPr>
          <p:cNvPr name="Freeform 18" id="18"/>
          <p:cNvSpPr/>
          <p:nvPr/>
        </p:nvSpPr>
        <p:spPr>
          <a:xfrm flipH="false" flipV="false" rot="0">
            <a:off x="12050954" y="5081092"/>
            <a:ext cx="5266096" cy="1046521"/>
          </a:xfrm>
          <a:custGeom>
            <a:avLst/>
            <a:gdLst/>
            <a:ahLst/>
            <a:cxnLst/>
            <a:rect r="r" b="b" t="t" l="l"/>
            <a:pathLst>
              <a:path h="1046521" w="5266096">
                <a:moveTo>
                  <a:pt x="0" y="0"/>
                </a:moveTo>
                <a:lnTo>
                  <a:pt x="5266096" y="0"/>
                </a:lnTo>
                <a:lnTo>
                  <a:pt x="5266096" y="1046521"/>
                </a:lnTo>
                <a:lnTo>
                  <a:pt x="0" y="104652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9" id="19"/>
          <p:cNvSpPr txBox="true"/>
          <p:nvPr/>
        </p:nvSpPr>
        <p:spPr>
          <a:xfrm rot="0">
            <a:off x="12352553" y="5325551"/>
            <a:ext cx="3546729" cy="500405"/>
          </a:xfrm>
          <a:prstGeom prst="rect">
            <a:avLst/>
          </a:prstGeom>
        </p:spPr>
        <p:txBody>
          <a:bodyPr anchor="t" rtlCol="false" tIns="0" lIns="0" bIns="0" rIns="0">
            <a:spAutoFit/>
          </a:bodyPr>
          <a:lstStyle/>
          <a:p>
            <a:pPr algn="l">
              <a:lnSpc>
                <a:spcPts val="3465"/>
              </a:lnSpc>
            </a:pPr>
            <a:r>
              <a:rPr lang="en-US" sz="2776" b="true">
                <a:solidFill>
                  <a:srgbClr val="000000"/>
                </a:solidFill>
                <a:latin typeface="Crimson Pro Bold"/>
                <a:ea typeface="Crimson Pro Bold"/>
                <a:cs typeface="Crimson Pro Bold"/>
                <a:sym typeface="Crimson Pro Bold"/>
              </a:rPr>
              <a:t>Free Sulfur Dioxide</a:t>
            </a:r>
          </a:p>
        </p:txBody>
      </p:sp>
      <p:sp>
        <p:nvSpPr>
          <p:cNvPr name="Freeform 20" id="20"/>
          <p:cNvSpPr/>
          <p:nvPr/>
        </p:nvSpPr>
        <p:spPr>
          <a:xfrm flipH="false" flipV="false" rot="0">
            <a:off x="984647" y="6394637"/>
            <a:ext cx="5266096" cy="1046521"/>
          </a:xfrm>
          <a:custGeom>
            <a:avLst/>
            <a:gdLst/>
            <a:ahLst/>
            <a:cxnLst/>
            <a:rect r="r" b="b" t="t" l="l"/>
            <a:pathLst>
              <a:path h="1046521" w="5266096">
                <a:moveTo>
                  <a:pt x="0" y="0"/>
                </a:moveTo>
                <a:lnTo>
                  <a:pt x="5266096" y="0"/>
                </a:lnTo>
                <a:lnTo>
                  <a:pt x="5266096" y="1046522"/>
                </a:lnTo>
                <a:lnTo>
                  <a:pt x="0" y="104652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21" id="21"/>
          <p:cNvSpPr txBox="true"/>
          <p:nvPr/>
        </p:nvSpPr>
        <p:spPr>
          <a:xfrm rot="0">
            <a:off x="1286256" y="6639096"/>
            <a:ext cx="3546729" cy="500405"/>
          </a:xfrm>
          <a:prstGeom prst="rect">
            <a:avLst/>
          </a:prstGeom>
        </p:spPr>
        <p:txBody>
          <a:bodyPr anchor="t" rtlCol="false" tIns="0" lIns="0" bIns="0" rIns="0">
            <a:spAutoFit/>
          </a:bodyPr>
          <a:lstStyle/>
          <a:p>
            <a:pPr algn="l">
              <a:lnSpc>
                <a:spcPts val="3465"/>
              </a:lnSpc>
            </a:pPr>
            <a:r>
              <a:rPr lang="en-US" sz="2776" b="true">
                <a:solidFill>
                  <a:srgbClr val="000000"/>
                </a:solidFill>
                <a:latin typeface="Crimson Pro Bold"/>
                <a:ea typeface="Crimson Pro Bold"/>
                <a:cs typeface="Crimson Pro Bold"/>
                <a:sym typeface="Crimson Pro Bold"/>
              </a:rPr>
              <a:t>Total Sulfur Dioxide</a:t>
            </a:r>
          </a:p>
        </p:txBody>
      </p:sp>
      <p:sp>
        <p:nvSpPr>
          <p:cNvPr name="Freeform 22" id="22"/>
          <p:cNvSpPr/>
          <p:nvPr/>
        </p:nvSpPr>
        <p:spPr>
          <a:xfrm flipH="false" flipV="false" rot="0">
            <a:off x="6517796" y="6394637"/>
            <a:ext cx="5266096" cy="1046521"/>
          </a:xfrm>
          <a:custGeom>
            <a:avLst/>
            <a:gdLst/>
            <a:ahLst/>
            <a:cxnLst/>
            <a:rect r="r" b="b" t="t" l="l"/>
            <a:pathLst>
              <a:path h="1046521" w="5266096">
                <a:moveTo>
                  <a:pt x="0" y="0"/>
                </a:moveTo>
                <a:lnTo>
                  <a:pt x="5266096" y="0"/>
                </a:lnTo>
                <a:lnTo>
                  <a:pt x="5266096" y="1046522"/>
                </a:lnTo>
                <a:lnTo>
                  <a:pt x="0" y="104652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23" id="23"/>
          <p:cNvSpPr txBox="true"/>
          <p:nvPr/>
        </p:nvSpPr>
        <p:spPr>
          <a:xfrm rot="0">
            <a:off x="6819405" y="6639096"/>
            <a:ext cx="3546729" cy="500405"/>
          </a:xfrm>
          <a:prstGeom prst="rect">
            <a:avLst/>
          </a:prstGeom>
        </p:spPr>
        <p:txBody>
          <a:bodyPr anchor="t" rtlCol="false" tIns="0" lIns="0" bIns="0" rIns="0">
            <a:spAutoFit/>
          </a:bodyPr>
          <a:lstStyle/>
          <a:p>
            <a:pPr algn="l">
              <a:lnSpc>
                <a:spcPts val="3465"/>
              </a:lnSpc>
            </a:pPr>
            <a:r>
              <a:rPr lang="en-US" sz="2776" b="true">
                <a:solidFill>
                  <a:srgbClr val="000000"/>
                </a:solidFill>
                <a:latin typeface="Crimson Pro Bold"/>
                <a:ea typeface="Crimson Pro Bold"/>
                <a:cs typeface="Crimson Pro Bold"/>
                <a:sym typeface="Crimson Pro Bold"/>
              </a:rPr>
              <a:t>Density</a:t>
            </a:r>
          </a:p>
        </p:txBody>
      </p:sp>
      <p:sp>
        <p:nvSpPr>
          <p:cNvPr name="Freeform 24" id="24"/>
          <p:cNvSpPr/>
          <p:nvPr/>
        </p:nvSpPr>
        <p:spPr>
          <a:xfrm flipH="false" flipV="false" rot="0">
            <a:off x="12050954" y="6394637"/>
            <a:ext cx="5266096" cy="1046521"/>
          </a:xfrm>
          <a:custGeom>
            <a:avLst/>
            <a:gdLst/>
            <a:ahLst/>
            <a:cxnLst/>
            <a:rect r="r" b="b" t="t" l="l"/>
            <a:pathLst>
              <a:path h="1046521" w="5266096">
                <a:moveTo>
                  <a:pt x="0" y="0"/>
                </a:moveTo>
                <a:lnTo>
                  <a:pt x="5266096" y="0"/>
                </a:lnTo>
                <a:lnTo>
                  <a:pt x="5266096" y="1046522"/>
                </a:lnTo>
                <a:lnTo>
                  <a:pt x="0" y="104652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25" id="25"/>
          <p:cNvSpPr txBox="true"/>
          <p:nvPr/>
        </p:nvSpPr>
        <p:spPr>
          <a:xfrm rot="0">
            <a:off x="12352553" y="6639096"/>
            <a:ext cx="3546729" cy="500405"/>
          </a:xfrm>
          <a:prstGeom prst="rect">
            <a:avLst/>
          </a:prstGeom>
        </p:spPr>
        <p:txBody>
          <a:bodyPr anchor="t" rtlCol="false" tIns="0" lIns="0" bIns="0" rIns="0">
            <a:spAutoFit/>
          </a:bodyPr>
          <a:lstStyle/>
          <a:p>
            <a:pPr algn="l">
              <a:lnSpc>
                <a:spcPts val="3465"/>
              </a:lnSpc>
            </a:pPr>
            <a:r>
              <a:rPr lang="en-US" sz="2776" b="true">
                <a:solidFill>
                  <a:srgbClr val="000000"/>
                </a:solidFill>
                <a:latin typeface="Crimson Pro Bold"/>
                <a:ea typeface="Crimson Pro Bold"/>
                <a:cs typeface="Crimson Pro Bold"/>
                <a:sym typeface="Crimson Pro Bold"/>
              </a:rPr>
              <a:t>pH</a:t>
            </a:r>
          </a:p>
        </p:txBody>
      </p:sp>
      <p:sp>
        <p:nvSpPr>
          <p:cNvPr name="Freeform 26" id="26"/>
          <p:cNvSpPr/>
          <p:nvPr/>
        </p:nvSpPr>
        <p:spPr>
          <a:xfrm flipH="false" flipV="false" rot="0">
            <a:off x="984647" y="7708182"/>
            <a:ext cx="8032728" cy="1046521"/>
          </a:xfrm>
          <a:custGeom>
            <a:avLst/>
            <a:gdLst/>
            <a:ahLst/>
            <a:cxnLst/>
            <a:rect r="r" b="b" t="t" l="l"/>
            <a:pathLst>
              <a:path h="1046521" w="8032728">
                <a:moveTo>
                  <a:pt x="0" y="0"/>
                </a:moveTo>
                <a:lnTo>
                  <a:pt x="8032728" y="0"/>
                </a:lnTo>
                <a:lnTo>
                  <a:pt x="8032728" y="1046522"/>
                </a:lnTo>
                <a:lnTo>
                  <a:pt x="0" y="104652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27" id="27"/>
          <p:cNvSpPr txBox="true"/>
          <p:nvPr/>
        </p:nvSpPr>
        <p:spPr>
          <a:xfrm rot="0">
            <a:off x="1286256" y="7952642"/>
            <a:ext cx="3546729" cy="500405"/>
          </a:xfrm>
          <a:prstGeom prst="rect">
            <a:avLst/>
          </a:prstGeom>
        </p:spPr>
        <p:txBody>
          <a:bodyPr anchor="t" rtlCol="false" tIns="0" lIns="0" bIns="0" rIns="0">
            <a:spAutoFit/>
          </a:bodyPr>
          <a:lstStyle/>
          <a:p>
            <a:pPr algn="l">
              <a:lnSpc>
                <a:spcPts val="3465"/>
              </a:lnSpc>
            </a:pPr>
            <a:r>
              <a:rPr lang="en-US" sz="2776" b="true">
                <a:solidFill>
                  <a:srgbClr val="000000"/>
                </a:solidFill>
                <a:latin typeface="Crimson Pro Bold"/>
                <a:ea typeface="Crimson Pro Bold"/>
                <a:cs typeface="Crimson Pro Bold"/>
                <a:sym typeface="Crimson Pro Bold"/>
              </a:rPr>
              <a:t>Sulphates</a:t>
            </a:r>
          </a:p>
        </p:txBody>
      </p:sp>
      <p:sp>
        <p:nvSpPr>
          <p:cNvPr name="Freeform 28" id="28"/>
          <p:cNvSpPr/>
          <p:nvPr/>
        </p:nvSpPr>
        <p:spPr>
          <a:xfrm flipH="false" flipV="false" rot="0">
            <a:off x="9284370" y="7708182"/>
            <a:ext cx="8032728" cy="1046521"/>
          </a:xfrm>
          <a:custGeom>
            <a:avLst/>
            <a:gdLst/>
            <a:ahLst/>
            <a:cxnLst/>
            <a:rect r="r" b="b" t="t" l="l"/>
            <a:pathLst>
              <a:path h="1046521" w="8032728">
                <a:moveTo>
                  <a:pt x="0" y="0"/>
                </a:moveTo>
                <a:lnTo>
                  <a:pt x="8032728" y="0"/>
                </a:lnTo>
                <a:lnTo>
                  <a:pt x="8032728" y="1046522"/>
                </a:lnTo>
                <a:lnTo>
                  <a:pt x="0" y="104652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29" id="29"/>
          <p:cNvSpPr txBox="true"/>
          <p:nvPr/>
        </p:nvSpPr>
        <p:spPr>
          <a:xfrm rot="0">
            <a:off x="9585979" y="7952642"/>
            <a:ext cx="3546729" cy="500405"/>
          </a:xfrm>
          <a:prstGeom prst="rect">
            <a:avLst/>
          </a:prstGeom>
        </p:spPr>
        <p:txBody>
          <a:bodyPr anchor="t" rtlCol="false" tIns="0" lIns="0" bIns="0" rIns="0">
            <a:spAutoFit/>
          </a:bodyPr>
          <a:lstStyle/>
          <a:p>
            <a:pPr algn="l">
              <a:lnSpc>
                <a:spcPts val="3465"/>
              </a:lnSpc>
            </a:pPr>
            <a:r>
              <a:rPr lang="en-US" sz="2776" b="true">
                <a:solidFill>
                  <a:srgbClr val="000000"/>
                </a:solidFill>
                <a:latin typeface="Crimson Pro Bold"/>
                <a:ea typeface="Crimson Pro Bold"/>
                <a:cs typeface="Crimson Pro Bold"/>
                <a:sym typeface="Crimson Pro Bold"/>
              </a:rPr>
              <a:t>Alcohol</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0" y="0"/>
            <a:ext cx="18301811" cy="10295001"/>
            <a:chOff x="0" y="0"/>
            <a:chExt cx="24402415" cy="13726668"/>
          </a:xfrm>
        </p:grpSpPr>
        <p:sp>
          <p:nvSpPr>
            <p:cNvPr name="Freeform 3" id="3"/>
            <p:cNvSpPr/>
            <p:nvPr/>
          </p:nvSpPr>
          <p:spPr>
            <a:xfrm flipH="false" flipV="false" rot="0">
              <a:off x="0" y="0"/>
              <a:ext cx="24402414" cy="13726668"/>
            </a:xfrm>
            <a:custGeom>
              <a:avLst/>
              <a:gdLst/>
              <a:ahLst/>
              <a:cxnLst/>
              <a:rect r="r" b="b" t="t" l="l"/>
              <a:pathLst>
                <a:path h="13726668" w="24402414">
                  <a:moveTo>
                    <a:pt x="0" y="0"/>
                  </a:moveTo>
                  <a:lnTo>
                    <a:pt x="24402414" y="0"/>
                  </a:lnTo>
                  <a:lnTo>
                    <a:pt x="24402414" y="13726668"/>
                  </a:lnTo>
                  <a:lnTo>
                    <a:pt x="0" y="13726668"/>
                  </a:lnTo>
                  <a:close/>
                </a:path>
              </a:pathLst>
            </a:custGeom>
            <a:solidFill>
              <a:srgbClr val="F7EDE9"/>
            </a:solidFill>
          </p:spPr>
        </p:sp>
      </p:grpSp>
      <p:grpSp>
        <p:nvGrpSpPr>
          <p:cNvPr name="Group 4" id="4"/>
          <p:cNvGrpSpPr/>
          <p:nvPr/>
        </p:nvGrpSpPr>
        <p:grpSpPr>
          <a:xfrm rot="0">
            <a:off x="0" y="0"/>
            <a:ext cx="18301811" cy="10295001"/>
            <a:chOff x="0" y="0"/>
            <a:chExt cx="24402415" cy="13726668"/>
          </a:xfrm>
        </p:grpSpPr>
        <p:sp>
          <p:nvSpPr>
            <p:cNvPr name="Freeform 5" id="5"/>
            <p:cNvSpPr/>
            <p:nvPr/>
          </p:nvSpPr>
          <p:spPr>
            <a:xfrm flipH="false" flipV="false" rot="0">
              <a:off x="0" y="0"/>
              <a:ext cx="24402414" cy="13726668"/>
            </a:xfrm>
            <a:custGeom>
              <a:avLst/>
              <a:gdLst/>
              <a:ahLst/>
              <a:cxnLst/>
              <a:rect r="r" b="b" t="t" l="l"/>
              <a:pathLst>
                <a:path h="13726668" w="24402414">
                  <a:moveTo>
                    <a:pt x="0" y="0"/>
                  </a:moveTo>
                  <a:lnTo>
                    <a:pt x="24402414" y="0"/>
                  </a:lnTo>
                  <a:lnTo>
                    <a:pt x="24402414" y="13726668"/>
                  </a:lnTo>
                  <a:lnTo>
                    <a:pt x="0" y="13726668"/>
                  </a:lnTo>
                  <a:close/>
                </a:path>
              </a:pathLst>
            </a:custGeom>
            <a:solidFill>
              <a:srgbClr val="5E1024"/>
            </a:solidFill>
          </p:spPr>
        </p:sp>
      </p:grpSp>
      <p:sp>
        <p:nvSpPr>
          <p:cNvPr name="TextBox 6" id="6"/>
          <p:cNvSpPr txBox="true"/>
          <p:nvPr/>
        </p:nvSpPr>
        <p:spPr>
          <a:xfrm rot="0">
            <a:off x="5710685" y="903408"/>
            <a:ext cx="6880469" cy="821817"/>
          </a:xfrm>
          <a:prstGeom prst="rect">
            <a:avLst/>
          </a:prstGeom>
        </p:spPr>
        <p:txBody>
          <a:bodyPr anchor="t" rtlCol="false" tIns="0" lIns="0" bIns="0" rIns="0">
            <a:spAutoFit/>
          </a:bodyPr>
          <a:lstStyle/>
          <a:p>
            <a:pPr algn="ctr">
              <a:lnSpc>
                <a:spcPts val="5807"/>
              </a:lnSpc>
            </a:pPr>
            <a:r>
              <a:rPr lang="en-US" sz="4653" b="true">
                <a:solidFill>
                  <a:srgbClr val="C9A227"/>
                </a:solidFill>
                <a:latin typeface="Crimson Pro Bold"/>
                <a:ea typeface="Crimson Pro Bold"/>
                <a:cs typeface="Crimson Pro Bold"/>
                <a:sym typeface="Crimson Pro Bold"/>
              </a:rPr>
              <a:t>Data Preprocessing</a:t>
            </a:r>
          </a:p>
        </p:txBody>
      </p:sp>
      <p:grpSp>
        <p:nvGrpSpPr>
          <p:cNvPr name="Group 7" id="7"/>
          <p:cNvGrpSpPr/>
          <p:nvPr/>
        </p:nvGrpSpPr>
        <p:grpSpPr>
          <a:xfrm rot="0">
            <a:off x="868470" y="1883254"/>
            <a:ext cx="8196072" cy="1560004"/>
            <a:chOff x="0" y="0"/>
            <a:chExt cx="10928096" cy="2080006"/>
          </a:xfrm>
        </p:grpSpPr>
        <p:sp>
          <p:nvSpPr>
            <p:cNvPr name="Freeform 8" id="8"/>
            <p:cNvSpPr/>
            <p:nvPr/>
          </p:nvSpPr>
          <p:spPr>
            <a:xfrm flipH="false" flipV="false" rot="0">
              <a:off x="0" y="0"/>
              <a:ext cx="10928096" cy="2080006"/>
            </a:xfrm>
            <a:custGeom>
              <a:avLst/>
              <a:gdLst/>
              <a:ahLst/>
              <a:cxnLst/>
              <a:rect r="r" b="b" t="t" l="l"/>
              <a:pathLst>
                <a:path h="2080006" w="10928096">
                  <a:moveTo>
                    <a:pt x="0" y="165989"/>
                  </a:moveTo>
                  <a:cubicBezTo>
                    <a:pt x="0" y="74295"/>
                    <a:pt x="74295" y="0"/>
                    <a:pt x="165989" y="0"/>
                  </a:cubicBezTo>
                  <a:lnTo>
                    <a:pt x="10762107" y="0"/>
                  </a:lnTo>
                  <a:cubicBezTo>
                    <a:pt x="10853800" y="0"/>
                    <a:pt x="10928096" y="74295"/>
                    <a:pt x="10928096" y="165989"/>
                  </a:cubicBezTo>
                  <a:lnTo>
                    <a:pt x="10928096" y="1914017"/>
                  </a:lnTo>
                  <a:cubicBezTo>
                    <a:pt x="10928096" y="2005711"/>
                    <a:pt x="10853800" y="2080006"/>
                    <a:pt x="10762107" y="2080006"/>
                  </a:cubicBezTo>
                  <a:lnTo>
                    <a:pt x="165989" y="2080006"/>
                  </a:lnTo>
                  <a:cubicBezTo>
                    <a:pt x="74295" y="2080006"/>
                    <a:pt x="0" y="2005711"/>
                    <a:pt x="0" y="1914017"/>
                  </a:cubicBezTo>
                  <a:close/>
                </a:path>
              </a:pathLst>
            </a:custGeom>
            <a:solidFill>
              <a:srgbClr val="C9907C"/>
            </a:solidFill>
          </p:spPr>
        </p:sp>
      </p:grpSp>
      <p:sp>
        <p:nvSpPr>
          <p:cNvPr name="TextBox 9" id="9"/>
          <p:cNvSpPr txBox="true"/>
          <p:nvPr/>
        </p:nvSpPr>
        <p:spPr>
          <a:xfrm rot="0">
            <a:off x="1041244" y="1939881"/>
            <a:ext cx="8765610" cy="260623"/>
          </a:xfrm>
          <a:prstGeom prst="rect">
            <a:avLst/>
          </a:prstGeom>
        </p:spPr>
        <p:txBody>
          <a:bodyPr anchor="t" rtlCol="false" tIns="0" lIns="0" bIns="0" rIns="0">
            <a:spAutoFit/>
          </a:bodyPr>
          <a:lstStyle/>
          <a:p>
            <a:pPr algn="l">
              <a:lnSpc>
                <a:spcPts val="1734"/>
              </a:lnSpc>
            </a:pPr>
            <a:r>
              <a:rPr lang="en-US" sz="1350">
                <a:solidFill>
                  <a:srgbClr val="000000"/>
                </a:solidFill>
                <a:latin typeface="Open Sans"/>
                <a:ea typeface="Open Sans"/>
                <a:cs typeface="Open Sans"/>
                <a:sym typeface="Open Sans"/>
              </a:rPr>
              <a:t>Analyzed dataset structure and dimensions -</a:t>
            </a:r>
            <a:r>
              <a:rPr lang="en-US" sz="1350" b="true">
                <a:solidFill>
                  <a:srgbClr val="000000"/>
                </a:solidFill>
                <a:latin typeface="Open Sans Bold"/>
                <a:ea typeface="Open Sans Bold"/>
                <a:cs typeface="Open Sans Bold"/>
                <a:sym typeface="Open Sans Bold"/>
              </a:rPr>
              <a:t> df.shape()</a:t>
            </a:r>
          </a:p>
        </p:txBody>
      </p:sp>
      <p:grpSp>
        <p:nvGrpSpPr>
          <p:cNvPr name="Group 10" id="10"/>
          <p:cNvGrpSpPr/>
          <p:nvPr/>
        </p:nvGrpSpPr>
        <p:grpSpPr>
          <a:xfrm rot="0">
            <a:off x="4125363" y="2318918"/>
            <a:ext cx="1682115" cy="1005935"/>
            <a:chOff x="0" y="0"/>
            <a:chExt cx="2242820" cy="1341247"/>
          </a:xfrm>
        </p:grpSpPr>
        <p:sp>
          <p:nvSpPr>
            <p:cNvPr name="Freeform 11" id="11" descr="preencoded.png"/>
            <p:cNvSpPr/>
            <p:nvPr/>
          </p:nvSpPr>
          <p:spPr>
            <a:xfrm flipH="false" flipV="false" rot="0">
              <a:off x="0" y="0"/>
              <a:ext cx="2242820" cy="1341247"/>
            </a:xfrm>
            <a:custGeom>
              <a:avLst/>
              <a:gdLst/>
              <a:ahLst/>
              <a:cxnLst/>
              <a:rect r="r" b="b" t="t" l="l"/>
              <a:pathLst>
                <a:path h="1341247" w="2242820">
                  <a:moveTo>
                    <a:pt x="0" y="0"/>
                  </a:moveTo>
                  <a:lnTo>
                    <a:pt x="2242820" y="0"/>
                  </a:lnTo>
                  <a:lnTo>
                    <a:pt x="2242820" y="1341247"/>
                  </a:lnTo>
                  <a:lnTo>
                    <a:pt x="0" y="1341247"/>
                  </a:lnTo>
                  <a:lnTo>
                    <a:pt x="0" y="0"/>
                  </a:lnTo>
                  <a:close/>
                </a:path>
              </a:pathLst>
            </a:custGeom>
            <a:blipFill>
              <a:blip r:embed="rId3"/>
              <a:stretch>
                <a:fillRect l="0" t="-244" r="0" b="-244"/>
              </a:stretch>
            </a:blipFill>
          </p:spPr>
        </p:sp>
      </p:grpSp>
      <p:grpSp>
        <p:nvGrpSpPr>
          <p:cNvPr name="Group 12" id="12"/>
          <p:cNvGrpSpPr/>
          <p:nvPr/>
        </p:nvGrpSpPr>
        <p:grpSpPr>
          <a:xfrm rot="0">
            <a:off x="9246841" y="1883254"/>
            <a:ext cx="8196072" cy="1560004"/>
            <a:chOff x="0" y="0"/>
            <a:chExt cx="10928096" cy="2080006"/>
          </a:xfrm>
        </p:grpSpPr>
        <p:sp>
          <p:nvSpPr>
            <p:cNvPr name="Freeform 13" id="13"/>
            <p:cNvSpPr/>
            <p:nvPr/>
          </p:nvSpPr>
          <p:spPr>
            <a:xfrm flipH="false" flipV="false" rot="0">
              <a:off x="0" y="0"/>
              <a:ext cx="10928096" cy="2080006"/>
            </a:xfrm>
            <a:custGeom>
              <a:avLst/>
              <a:gdLst/>
              <a:ahLst/>
              <a:cxnLst/>
              <a:rect r="r" b="b" t="t" l="l"/>
              <a:pathLst>
                <a:path h="2080006" w="10928096">
                  <a:moveTo>
                    <a:pt x="0" y="165989"/>
                  </a:moveTo>
                  <a:cubicBezTo>
                    <a:pt x="0" y="74295"/>
                    <a:pt x="74295" y="0"/>
                    <a:pt x="165989" y="0"/>
                  </a:cubicBezTo>
                  <a:lnTo>
                    <a:pt x="10762107" y="0"/>
                  </a:lnTo>
                  <a:cubicBezTo>
                    <a:pt x="10853800" y="0"/>
                    <a:pt x="10928096" y="74295"/>
                    <a:pt x="10928096" y="165989"/>
                  </a:cubicBezTo>
                  <a:lnTo>
                    <a:pt x="10928096" y="1914017"/>
                  </a:lnTo>
                  <a:cubicBezTo>
                    <a:pt x="10928096" y="2005711"/>
                    <a:pt x="10853800" y="2080006"/>
                    <a:pt x="10762107" y="2080006"/>
                  </a:cubicBezTo>
                  <a:lnTo>
                    <a:pt x="165989" y="2080006"/>
                  </a:lnTo>
                  <a:cubicBezTo>
                    <a:pt x="74295" y="2080006"/>
                    <a:pt x="0" y="2005711"/>
                    <a:pt x="0" y="1914017"/>
                  </a:cubicBezTo>
                  <a:close/>
                </a:path>
              </a:pathLst>
            </a:custGeom>
            <a:solidFill>
              <a:srgbClr val="C9907C"/>
            </a:solidFill>
          </p:spPr>
        </p:sp>
      </p:grpSp>
      <p:sp>
        <p:nvSpPr>
          <p:cNvPr name="TextBox 14" id="14"/>
          <p:cNvSpPr txBox="true"/>
          <p:nvPr/>
        </p:nvSpPr>
        <p:spPr>
          <a:xfrm rot="0">
            <a:off x="9419606" y="1939881"/>
            <a:ext cx="8765610" cy="260623"/>
          </a:xfrm>
          <a:prstGeom prst="rect">
            <a:avLst/>
          </a:prstGeom>
        </p:spPr>
        <p:txBody>
          <a:bodyPr anchor="t" rtlCol="false" tIns="0" lIns="0" bIns="0" rIns="0">
            <a:spAutoFit/>
          </a:bodyPr>
          <a:lstStyle/>
          <a:p>
            <a:pPr algn="l">
              <a:lnSpc>
                <a:spcPts val="1734"/>
              </a:lnSpc>
            </a:pPr>
            <a:r>
              <a:rPr lang="en-US" sz="1350">
                <a:solidFill>
                  <a:srgbClr val="000000"/>
                </a:solidFill>
                <a:latin typeface="Open Sans"/>
                <a:ea typeface="Open Sans"/>
                <a:cs typeface="Open Sans"/>
                <a:sym typeface="Open Sans"/>
              </a:rPr>
              <a:t>Checked for duplicate records -</a:t>
            </a:r>
            <a:r>
              <a:rPr lang="en-US" sz="1350" b="true">
                <a:solidFill>
                  <a:srgbClr val="000000"/>
                </a:solidFill>
                <a:latin typeface="Open Sans Bold"/>
                <a:ea typeface="Open Sans Bold"/>
                <a:cs typeface="Open Sans Bold"/>
                <a:sym typeface="Open Sans Bold"/>
              </a:rPr>
              <a:t> df.duplicated().sum()</a:t>
            </a:r>
          </a:p>
        </p:txBody>
      </p:sp>
      <p:grpSp>
        <p:nvGrpSpPr>
          <p:cNvPr name="Group 15" id="15"/>
          <p:cNvGrpSpPr/>
          <p:nvPr/>
        </p:nvGrpSpPr>
        <p:grpSpPr>
          <a:xfrm rot="0">
            <a:off x="11906326" y="2318918"/>
            <a:ext cx="2877122" cy="792670"/>
            <a:chOff x="0" y="0"/>
            <a:chExt cx="3836162" cy="1056894"/>
          </a:xfrm>
        </p:grpSpPr>
        <p:sp>
          <p:nvSpPr>
            <p:cNvPr name="Freeform 16" id="16" descr="preencoded.png"/>
            <p:cNvSpPr/>
            <p:nvPr/>
          </p:nvSpPr>
          <p:spPr>
            <a:xfrm flipH="false" flipV="false" rot="0">
              <a:off x="0" y="0"/>
              <a:ext cx="3836162" cy="1056894"/>
            </a:xfrm>
            <a:custGeom>
              <a:avLst/>
              <a:gdLst/>
              <a:ahLst/>
              <a:cxnLst/>
              <a:rect r="r" b="b" t="t" l="l"/>
              <a:pathLst>
                <a:path h="1056894" w="3836162">
                  <a:moveTo>
                    <a:pt x="0" y="0"/>
                  </a:moveTo>
                  <a:lnTo>
                    <a:pt x="3836162" y="0"/>
                  </a:lnTo>
                  <a:lnTo>
                    <a:pt x="3836162" y="1056894"/>
                  </a:lnTo>
                  <a:lnTo>
                    <a:pt x="0" y="1056894"/>
                  </a:lnTo>
                  <a:lnTo>
                    <a:pt x="0" y="0"/>
                  </a:lnTo>
                  <a:close/>
                </a:path>
              </a:pathLst>
            </a:custGeom>
            <a:blipFill>
              <a:blip r:embed="rId4"/>
              <a:stretch>
                <a:fillRect l="0" t="-495" r="0" b="-495"/>
              </a:stretch>
            </a:blipFill>
          </p:spPr>
        </p:sp>
      </p:grpSp>
      <p:grpSp>
        <p:nvGrpSpPr>
          <p:cNvPr name="Group 17" id="17"/>
          <p:cNvGrpSpPr/>
          <p:nvPr/>
        </p:nvGrpSpPr>
        <p:grpSpPr>
          <a:xfrm rot="0">
            <a:off x="868470" y="3561712"/>
            <a:ext cx="2505170" cy="3603308"/>
            <a:chOff x="0" y="0"/>
            <a:chExt cx="3340227" cy="4804410"/>
          </a:xfrm>
        </p:grpSpPr>
        <p:sp>
          <p:nvSpPr>
            <p:cNvPr name="Freeform 18" id="18"/>
            <p:cNvSpPr/>
            <p:nvPr/>
          </p:nvSpPr>
          <p:spPr>
            <a:xfrm flipH="false" flipV="false" rot="0">
              <a:off x="0" y="0"/>
              <a:ext cx="3340227" cy="4804410"/>
            </a:xfrm>
            <a:custGeom>
              <a:avLst/>
              <a:gdLst/>
              <a:ahLst/>
              <a:cxnLst/>
              <a:rect r="r" b="b" t="t" l="l"/>
              <a:pathLst>
                <a:path h="4804410" w="3340227">
                  <a:moveTo>
                    <a:pt x="0" y="165989"/>
                  </a:moveTo>
                  <a:cubicBezTo>
                    <a:pt x="0" y="74295"/>
                    <a:pt x="74295" y="0"/>
                    <a:pt x="165989" y="0"/>
                  </a:cubicBezTo>
                  <a:lnTo>
                    <a:pt x="3174238" y="0"/>
                  </a:lnTo>
                  <a:cubicBezTo>
                    <a:pt x="3265932" y="0"/>
                    <a:pt x="3340227" y="74295"/>
                    <a:pt x="3340227" y="165989"/>
                  </a:cubicBezTo>
                  <a:lnTo>
                    <a:pt x="3340227" y="4638421"/>
                  </a:lnTo>
                  <a:cubicBezTo>
                    <a:pt x="3340227" y="4730115"/>
                    <a:pt x="3265932" y="4804410"/>
                    <a:pt x="3174238" y="4804410"/>
                  </a:cubicBezTo>
                  <a:lnTo>
                    <a:pt x="165989" y="4804410"/>
                  </a:lnTo>
                  <a:cubicBezTo>
                    <a:pt x="74295" y="4804410"/>
                    <a:pt x="0" y="4729988"/>
                    <a:pt x="0" y="4638421"/>
                  </a:cubicBezTo>
                  <a:close/>
                </a:path>
              </a:pathLst>
            </a:custGeom>
            <a:solidFill>
              <a:srgbClr val="C9907C"/>
            </a:solidFill>
          </p:spPr>
        </p:sp>
      </p:grpSp>
      <p:sp>
        <p:nvSpPr>
          <p:cNvPr name="TextBox 19" id="19"/>
          <p:cNvSpPr txBox="true"/>
          <p:nvPr/>
        </p:nvSpPr>
        <p:spPr>
          <a:xfrm rot="0">
            <a:off x="1041244" y="3618338"/>
            <a:ext cx="2159641" cy="483146"/>
          </a:xfrm>
          <a:prstGeom prst="rect">
            <a:avLst/>
          </a:prstGeom>
        </p:spPr>
        <p:txBody>
          <a:bodyPr anchor="t" rtlCol="false" tIns="0" lIns="0" bIns="0" rIns="0">
            <a:spAutoFit/>
          </a:bodyPr>
          <a:lstStyle/>
          <a:p>
            <a:pPr algn="l">
              <a:lnSpc>
                <a:spcPts val="1734"/>
              </a:lnSpc>
            </a:pPr>
            <a:r>
              <a:rPr lang="en-US" sz="1350">
                <a:solidFill>
                  <a:srgbClr val="000000"/>
                </a:solidFill>
                <a:latin typeface="Open Sans"/>
                <a:ea typeface="Open Sans"/>
                <a:cs typeface="Open Sans"/>
                <a:sym typeface="Open Sans"/>
              </a:rPr>
              <a:t>Performed missing value analysis - </a:t>
            </a:r>
            <a:r>
              <a:rPr lang="en-US" sz="1350" b="true">
                <a:solidFill>
                  <a:srgbClr val="000000"/>
                </a:solidFill>
                <a:latin typeface="Open Sans Bold"/>
                <a:ea typeface="Open Sans Bold"/>
                <a:cs typeface="Open Sans Bold"/>
                <a:sym typeface="Open Sans Bold"/>
              </a:rPr>
              <a:t>df.isnull().sum()</a:t>
            </a:r>
          </a:p>
        </p:txBody>
      </p:sp>
      <p:grpSp>
        <p:nvGrpSpPr>
          <p:cNvPr name="Group 20" id="20"/>
          <p:cNvGrpSpPr/>
          <p:nvPr/>
        </p:nvGrpSpPr>
        <p:grpSpPr>
          <a:xfrm rot="0">
            <a:off x="1720120" y="4219899"/>
            <a:ext cx="801719" cy="2286857"/>
            <a:chOff x="0" y="0"/>
            <a:chExt cx="1068959" cy="3049143"/>
          </a:xfrm>
        </p:grpSpPr>
        <p:sp>
          <p:nvSpPr>
            <p:cNvPr name="Freeform 21" id="21" descr="preencoded.png"/>
            <p:cNvSpPr/>
            <p:nvPr/>
          </p:nvSpPr>
          <p:spPr>
            <a:xfrm flipH="false" flipV="false" rot="0">
              <a:off x="0" y="0"/>
              <a:ext cx="1068959" cy="3049143"/>
            </a:xfrm>
            <a:custGeom>
              <a:avLst/>
              <a:gdLst/>
              <a:ahLst/>
              <a:cxnLst/>
              <a:rect r="r" b="b" t="t" l="l"/>
              <a:pathLst>
                <a:path h="3049143" w="1068959">
                  <a:moveTo>
                    <a:pt x="0" y="0"/>
                  </a:moveTo>
                  <a:lnTo>
                    <a:pt x="1068959" y="0"/>
                  </a:lnTo>
                  <a:lnTo>
                    <a:pt x="1068959" y="3049143"/>
                  </a:lnTo>
                  <a:lnTo>
                    <a:pt x="0" y="3049143"/>
                  </a:lnTo>
                  <a:lnTo>
                    <a:pt x="0" y="0"/>
                  </a:lnTo>
                  <a:close/>
                </a:path>
              </a:pathLst>
            </a:custGeom>
            <a:blipFill>
              <a:blip r:embed="rId5"/>
              <a:stretch>
                <a:fillRect l="-512" t="0" r="-512" b="0"/>
              </a:stretch>
            </a:blipFill>
          </p:spPr>
        </p:sp>
      </p:grpSp>
      <p:sp>
        <p:nvSpPr>
          <p:cNvPr name="TextBox 22" id="22"/>
          <p:cNvSpPr txBox="true"/>
          <p:nvPr/>
        </p:nvSpPr>
        <p:spPr>
          <a:xfrm rot="0">
            <a:off x="1041244" y="6587099"/>
            <a:ext cx="2159641" cy="483146"/>
          </a:xfrm>
          <a:prstGeom prst="rect">
            <a:avLst/>
          </a:prstGeom>
        </p:spPr>
        <p:txBody>
          <a:bodyPr anchor="t" rtlCol="false" tIns="0" lIns="0" bIns="0" rIns="0">
            <a:spAutoFit/>
          </a:bodyPr>
          <a:lstStyle/>
          <a:p>
            <a:pPr algn="l">
              <a:lnSpc>
                <a:spcPts val="1734"/>
              </a:lnSpc>
            </a:pPr>
            <a:r>
              <a:rPr lang="en-US" b="true" sz="1350" i="true">
                <a:solidFill>
                  <a:srgbClr val="000000"/>
                </a:solidFill>
                <a:latin typeface="Open Sans Bold Italics"/>
                <a:ea typeface="Open Sans Bold Italics"/>
                <a:cs typeface="Open Sans Bold Italics"/>
                <a:sym typeface="Open Sans Bold Italics"/>
              </a:rPr>
              <a:t>No missing values were found in the dataset.</a:t>
            </a:r>
          </a:p>
        </p:txBody>
      </p:sp>
      <p:grpSp>
        <p:nvGrpSpPr>
          <p:cNvPr name="Group 23" id="23"/>
          <p:cNvGrpSpPr/>
          <p:nvPr/>
        </p:nvGrpSpPr>
        <p:grpSpPr>
          <a:xfrm rot="0">
            <a:off x="3555959" y="3561712"/>
            <a:ext cx="13886783" cy="3603308"/>
            <a:chOff x="0" y="0"/>
            <a:chExt cx="18515711" cy="4804410"/>
          </a:xfrm>
        </p:grpSpPr>
        <p:sp>
          <p:nvSpPr>
            <p:cNvPr name="Freeform 24" id="24"/>
            <p:cNvSpPr/>
            <p:nvPr/>
          </p:nvSpPr>
          <p:spPr>
            <a:xfrm flipH="false" flipV="false" rot="0">
              <a:off x="0" y="0"/>
              <a:ext cx="18515710" cy="4804410"/>
            </a:xfrm>
            <a:custGeom>
              <a:avLst/>
              <a:gdLst/>
              <a:ahLst/>
              <a:cxnLst/>
              <a:rect r="r" b="b" t="t" l="l"/>
              <a:pathLst>
                <a:path h="4804410" w="18515710">
                  <a:moveTo>
                    <a:pt x="0" y="165989"/>
                  </a:moveTo>
                  <a:cubicBezTo>
                    <a:pt x="0" y="74295"/>
                    <a:pt x="74295" y="0"/>
                    <a:pt x="165989" y="0"/>
                  </a:cubicBezTo>
                  <a:lnTo>
                    <a:pt x="18349722" y="0"/>
                  </a:lnTo>
                  <a:cubicBezTo>
                    <a:pt x="18441415" y="0"/>
                    <a:pt x="18515710" y="74295"/>
                    <a:pt x="18515710" y="165989"/>
                  </a:cubicBezTo>
                  <a:lnTo>
                    <a:pt x="18515710" y="4638421"/>
                  </a:lnTo>
                  <a:cubicBezTo>
                    <a:pt x="18515710" y="4730115"/>
                    <a:pt x="18441415" y="4804410"/>
                    <a:pt x="18349722" y="4804410"/>
                  </a:cubicBezTo>
                  <a:lnTo>
                    <a:pt x="165989" y="4804410"/>
                  </a:lnTo>
                  <a:cubicBezTo>
                    <a:pt x="74295" y="4804410"/>
                    <a:pt x="0" y="4729988"/>
                    <a:pt x="0" y="4638421"/>
                  </a:cubicBezTo>
                  <a:close/>
                </a:path>
              </a:pathLst>
            </a:custGeom>
            <a:solidFill>
              <a:srgbClr val="C9907C"/>
            </a:solidFill>
          </p:spPr>
        </p:sp>
      </p:grpSp>
      <p:sp>
        <p:nvSpPr>
          <p:cNvPr name="TextBox 25" id="25"/>
          <p:cNvSpPr txBox="true"/>
          <p:nvPr/>
        </p:nvSpPr>
        <p:spPr>
          <a:xfrm rot="0">
            <a:off x="3728733" y="3618338"/>
            <a:ext cx="14456340" cy="260623"/>
          </a:xfrm>
          <a:prstGeom prst="rect">
            <a:avLst/>
          </a:prstGeom>
        </p:spPr>
        <p:txBody>
          <a:bodyPr anchor="t" rtlCol="false" tIns="0" lIns="0" bIns="0" rIns="0">
            <a:spAutoFit/>
          </a:bodyPr>
          <a:lstStyle/>
          <a:p>
            <a:pPr algn="l">
              <a:lnSpc>
                <a:spcPts val="1734"/>
              </a:lnSpc>
            </a:pPr>
            <a:r>
              <a:rPr lang="en-US" sz="1350">
                <a:solidFill>
                  <a:srgbClr val="000000"/>
                </a:solidFill>
                <a:latin typeface="Open Sans"/>
                <a:ea typeface="Open Sans"/>
                <a:cs typeface="Open Sans"/>
                <a:sym typeface="Open Sans"/>
              </a:rPr>
              <a:t>Reviewed statistical summaries - </a:t>
            </a:r>
            <a:r>
              <a:rPr lang="en-US" sz="1350" b="true">
                <a:solidFill>
                  <a:srgbClr val="000000"/>
                </a:solidFill>
                <a:latin typeface="Open Sans Bold"/>
                <a:ea typeface="Open Sans Bold"/>
                <a:cs typeface="Open Sans Bold"/>
                <a:sym typeface="Open Sans Bold"/>
              </a:rPr>
              <a:t>df.describe()</a:t>
            </a:r>
          </a:p>
        </p:txBody>
      </p:sp>
      <p:grpSp>
        <p:nvGrpSpPr>
          <p:cNvPr name="Group 26" id="26"/>
          <p:cNvGrpSpPr/>
          <p:nvPr/>
        </p:nvGrpSpPr>
        <p:grpSpPr>
          <a:xfrm rot="0">
            <a:off x="6576774" y="3997376"/>
            <a:ext cx="7845171" cy="2146840"/>
            <a:chOff x="0" y="0"/>
            <a:chExt cx="10460228" cy="2862453"/>
          </a:xfrm>
        </p:grpSpPr>
        <p:sp>
          <p:nvSpPr>
            <p:cNvPr name="Freeform 27" id="27" descr="preencoded.png"/>
            <p:cNvSpPr/>
            <p:nvPr/>
          </p:nvSpPr>
          <p:spPr>
            <a:xfrm flipH="false" flipV="false" rot="0">
              <a:off x="0" y="0"/>
              <a:ext cx="10460228" cy="2862453"/>
            </a:xfrm>
            <a:custGeom>
              <a:avLst/>
              <a:gdLst/>
              <a:ahLst/>
              <a:cxnLst/>
              <a:rect r="r" b="b" t="t" l="l"/>
              <a:pathLst>
                <a:path h="2862453" w="10460228">
                  <a:moveTo>
                    <a:pt x="0" y="0"/>
                  </a:moveTo>
                  <a:lnTo>
                    <a:pt x="10460228" y="0"/>
                  </a:lnTo>
                  <a:lnTo>
                    <a:pt x="10460228" y="2862453"/>
                  </a:lnTo>
                  <a:lnTo>
                    <a:pt x="0" y="2862453"/>
                  </a:lnTo>
                  <a:lnTo>
                    <a:pt x="0" y="0"/>
                  </a:lnTo>
                  <a:close/>
                </a:path>
              </a:pathLst>
            </a:custGeom>
            <a:blipFill>
              <a:blip r:embed="rId6"/>
              <a:stretch>
                <a:fillRect l="0" t="-251" r="0" b="-251"/>
              </a:stretch>
            </a:blipFill>
          </p:spPr>
        </p:sp>
      </p:grpSp>
      <p:grpSp>
        <p:nvGrpSpPr>
          <p:cNvPr name="Group 28" id="28"/>
          <p:cNvGrpSpPr/>
          <p:nvPr/>
        </p:nvGrpSpPr>
        <p:grpSpPr>
          <a:xfrm rot="0">
            <a:off x="868470" y="7283386"/>
            <a:ext cx="8196072" cy="2032064"/>
            <a:chOff x="0" y="0"/>
            <a:chExt cx="10928096" cy="2709418"/>
          </a:xfrm>
        </p:grpSpPr>
        <p:sp>
          <p:nvSpPr>
            <p:cNvPr name="Freeform 29" id="29"/>
            <p:cNvSpPr/>
            <p:nvPr/>
          </p:nvSpPr>
          <p:spPr>
            <a:xfrm flipH="false" flipV="false" rot="0">
              <a:off x="0" y="0"/>
              <a:ext cx="10928096" cy="2709418"/>
            </a:xfrm>
            <a:custGeom>
              <a:avLst/>
              <a:gdLst/>
              <a:ahLst/>
              <a:cxnLst/>
              <a:rect r="r" b="b" t="t" l="l"/>
              <a:pathLst>
                <a:path h="2709418" w="10928096">
                  <a:moveTo>
                    <a:pt x="0" y="165989"/>
                  </a:moveTo>
                  <a:cubicBezTo>
                    <a:pt x="0" y="74295"/>
                    <a:pt x="74295" y="0"/>
                    <a:pt x="165989" y="0"/>
                  </a:cubicBezTo>
                  <a:lnTo>
                    <a:pt x="10762107" y="0"/>
                  </a:lnTo>
                  <a:cubicBezTo>
                    <a:pt x="10853800" y="0"/>
                    <a:pt x="10928096" y="74295"/>
                    <a:pt x="10928096" y="165989"/>
                  </a:cubicBezTo>
                  <a:lnTo>
                    <a:pt x="10928096" y="2543429"/>
                  </a:lnTo>
                  <a:cubicBezTo>
                    <a:pt x="10928096" y="2635123"/>
                    <a:pt x="10853800" y="2709418"/>
                    <a:pt x="10762107" y="2709418"/>
                  </a:cubicBezTo>
                  <a:lnTo>
                    <a:pt x="165989" y="2709418"/>
                  </a:lnTo>
                  <a:cubicBezTo>
                    <a:pt x="74295" y="2709418"/>
                    <a:pt x="0" y="2635123"/>
                    <a:pt x="0" y="2543429"/>
                  </a:cubicBezTo>
                  <a:close/>
                </a:path>
              </a:pathLst>
            </a:custGeom>
            <a:solidFill>
              <a:srgbClr val="C9907C"/>
            </a:solidFill>
          </p:spPr>
        </p:sp>
      </p:grpSp>
      <p:sp>
        <p:nvSpPr>
          <p:cNvPr name="TextBox 30" id="30"/>
          <p:cNvSpPr txBox="true"/>
          <p:nvPr/>
        </p:nvSpPr>
        <p:spPr>
          <a:xfrm rot="0">
            <a:off x="1041244" y="7340013"/>
            <a:ext cx="8765610" cy="260623"/>
          </a:xfrm>
          <a:prstGeom prst="rect">
            <a:avLst/>
          </a:prstGeom>
        </p:spPr>
        <p:txBody>
          <a:bodyPr anchor="t" rtlCol="false" tIns="0" lIns="0" bIns="0" rIns="0">
            <a:spAutoFit/>
          </a:bodyPr>
          <a:lstStyle/>
          <a:p>
            <a:pPr algn="l">
              <a:lnSpc>
                <a:spcPts val="1734"/>
              </a:lnSpc>
            </a:pPr>
            <a:r>
              <a:rPr lang="en-US" sz="1350">
                <a:solidFill>
                  <a:srgbClr val="000000"/>
                </a:solidFill>
                <a:latin typeface="Open Sans"/>
                <a:ea typeface="Open Sans"/>
                <a:cs typeface="Open Sans"/>
                <a:sym typeface="Open Sans"/>
              </a:rPr>
              <a:t>Examined the distribution of the target variable  - </a:t>
            </a:r>
            <a:r>
              <a:rPr lang="en-US" sz="1350" b="true">
                <a:solidFill>
                  <a:srgbClr val="000000"/>
                </a:solidFill>
                <a:latin typeface="Open Sans Bold"/>
                <a:ea typeface="Open Sans Bold"/>
                <a:cs typeface="Open Sans Bold"/>
                <a:sym typeface="Open Sans Bold"/>
              </a:rPr>
              <a:t>df["quality"].value_counts()</a:t>
            </a:r>
          </a:p>
        </p:txBody>
      </p:sp>
      <p:grpSp>
        <p:nvGrpSpPr>
          <p:cNvPr name="Group 31" id="31"/>
          <p:cNvGrpSpPr/>
          <p:nvPr/>
        </p:nvGrpSpPr>
        <p:grpSpPr>
          <a:xfrm rot="0">
            <a:off x="4070404" y="7719050"/>
            <a:ext cx="1792224" cy="1160716"/>
            <a:chOff x="0" y="0"/>
            <a:chExt cx="2389632" cy="1547622"/>
          </a:xfrm>
        </p:grpSpPr>
        <p:sp>
          <p:nvSpPr>
            <p:cNvPr name="Freeform 32" id="32" descr="preencoded.png"/>
            <p:cNvSpPr/>
            <p:nvPr/>
          </p:nvSpPr>
          <p:spPr>
            <a:xfrm flipH="false" flipV="false" rot="0">
              <a:off x="0" y="0"/>
              <a:ext cx="2389632" cy="1547622"/>
            </a:xfrm>
            <a:custGeom>
              <a:avLst/>
              <a:gdLst/>
              <a:ahLst/>
              <a:cxnLst/>
              <a:rect r="r" b="b" t="t" l="l"/>
              <a:pathLst>
                <a:path h="1547622" w="2389632">
                  <a:moveTo>
                    <a:pt x="0" y="0"/>
                  </a:moveTo>
                  <a:lnTo>
                    <a:pt x="2389632" y="0"/>
                  </a:lnTo>
                  <a:lnTo>
                    <a:pt x="2389632" y="1547622"/>
                  </a:lnTo>
                  <a:lnTo>
                    <a:pt x="0" y="1547622"/>
                  </a:lnTo>
                  <a:lnTo>
                    <a:pt x="0" y="0"/>
                  </a:lnTo>
                  <a:close/>
                </a:path>
              </a:pathLst>
            </a:custGeom>
            <a:blipFill>
              <a:blip r:embed="rId7"/>
              <a:stretch>
                <a:fillRect l="-4" t="0" r="-4" b="0"/>
              </a:stretch>
            </a:blipFill>
          </p:spPr>
        </p:sp>
      </p:grpSp>
      <p:grpSp>
        <p:nvGrpSpPr>
          <p:cNvPr name="Group 33" id="33"/>
          <p:cNvGrpSpPr/>
          <p:nvPr/>
        </p:nvGrpSpPr>
        <p:grpSpPr>
          <a:xfrm rot="0">
            <a:off x="9246841" y="7283386"/>
            <a:ext cx="8196072" cy="2032064"/>
            <a:chOff x="0" y="0"/>
            <a:chExt cx="10928096" cy="2709418"/>
          </a:xfrm>
        </p:grpSpPr>
        <p:sp>
          <p:nvSpPr>
            <p:cNvPr name="Freeform 34" id="34"/>
            <p:cNvSpPr/>
            <p:nvPr/>
          </p:nvSpPr>
          <p:spPr>
            <a:xfrm flipH="false" flipV="false" rot="0">
              <a:off x="0" y="0"/>
              <a:ext cx="10928096" cy="2709418"/>
            </a:xfrm>
            <a:custGeom>
              <a:avLst/>
              <a:gdLst/>
              <a:ahLst/>
              <a:cxnLst/>
              <a:rect r="r" b="b" t="t" l="l"/>
              <a:pathLst>
                <a:path h="2709418" w="10928096">
                  <a:moveTo>
                    <a:pt x="0" y="165989"/>
                  </a:moveTo>
                  <a:cubicBezTo>
                    <a:pt x="0" y="74295"/>
                    <a:pt x="74295" y="0"/>
                    <a:pt x="165989" y="0"/>
                  </a:cubicBezTo>
                  <a:lnTo>
                    <a:pt x="10762107" y="0"/>
                  </a:lnTo>
                  <a:cubicBezTo>
                    <a:pt x="10853800" y="0"/>
                    <a:pt x="10928096" y="74295"/>
                    <a:pt x="10928096" y="165989"/>
                  </a:cubicBezTo>
                  <a:lnTo>
                    <a:pt x="10928096" y="2543429"/>
                  </a:lnTo>
                  <a:cubicBezTo>
                    <a:pt x="10928096" y="2635123"/>
                    <a:pt x="10853800" y="2709418"/>
                    <a:pt x="10762107" y="2709418"/>
                  </a:cubicBezTo>
                  <a:lnTo>
                    <a:pt x="165989" y="2709418"/>
                  </a:lnTo>
                  <a:cubicBezTo>
                    <a:pt x="74295" y="2709418"/>
                    <a:pt x="0" y="2635123"/>
                    <a:pt x="0" y="2543429"/>
                  </a:cubicBezTo>
                  <a:close/>
                </a:path>
              </a:pathLst>
            </a:custGeom>
            <a:solidFill>
              <a:srgbClr val="C9907C"/>
            </a:solidFill>
          </p:spPr>
        </p:sp>
      </p:grpSp>
      <p:sp>
        <p:nvSpPr>
          <p:cNvPr name="TextBox 35" id="35"/>
          <p:cNvSpPr txBox="true"/>
          <p:nvPr/>
        </p:nvSpPr>
        <p:spPr>
          <a:xfrm rot="0">
            <a:off x="9419606" y="7340013"/>
            <a:ext cx="8765610" cy="260623"/>
          </a:xfrm>
          <a:prstGeom prst="rect">
            <a:avLst/>
          </a:prstGeom>
        </p:spPr>
        <p:txBody>
          <a:bodyPr anchor="t" rtlCol="false" tIns="0" lIns="0" bIns="0" rIns="0">
            <a:spAutoFit/>
          </a:bodyPr>
          <a:lstStyle/>
          <a:p>
            <a:pPr algn="l">
              <a:lnSpc>
                <a:spcPts val="1734"/>
              </a:lnSpc>
            </a:pPr>
            <a:r>
              <a:rPr lang="en-US" sz="1350">
                <a:solidFill>
                  <a:srgbClr val="000000"/>
                </a:solidFill>
                <a:latin typeface="Open Sans"/>
                <a:ea typeface="Open Sans"/>
                <a:cs typeface="Open Sans"/>
                <a:sym typeface="Open Sans"/>
              </a:rPr>
              <a:t>Verified feature names - </a:t>
            </a:r>
            <a:r>
              <a:rPr lang="en-US" sz="1350" b="true">
                <a:solidFill>
                  <a:srgbClr val="000000"/>
                </a:solidFill>
                <a:latin typeface="Open Sans Bold"/>
                <a:ea typeface="Open Sans Bold"/>
                <a:cs typeface="Open Sans Bold"/>
                <a:sym typeface="Open Sans Bold"/>
              </a:rPr>
              <a:t>df.columns()</a:t>
            </a:r>
          </a:p>
        </p:txBody>
      </p:sp>
      <p:grpSp>
        <p:nvGrpSpPr>
          <p:cNvPr name="Group 36" id="36"/>
          <p:cNvGrpSpPr/>
          <p:nvPr/>
        </p:nvGrpSpPr>
        <p:grpSpPr>
          <a:xfrm rot="0">
            <a:off x="10931509" y="7719050"/>
            <a:ext cx="4826603" cy="896493"/>
            <a:chOff x="0" y="0"/>
            <a:chExt cx="6435471" cy="1195324"/>
          </a:xfrm>
        </p:grpSpPr>
        <p:sp>
          <p:nvSpPr>
            <p:cNvPr name="Freeform 37" id="37" descr="preencoded.png"/>
            <p:cNvSpPr/>
            <p:nvPr/>
          </p:nvSpPr>
          <p:spPr>
            <a:xfrm flipH="false" flipV="false" rot="0">
              <a:off x="0" y="0"/>
              <a:ext cx="6435471" cy="1195324"/>
            </a:xfrm>
            <a:custGeom>
              <a:avLst/>
              <a:gdLst/>
              <a:ahLst/>
              <a:cxnLst/>
              <a:rect r="r" b="b" t="t" l="l"/>
              <a:pathLst>
                <a:path h="1195324" w="6435471">
                  <a:moveTo>
                    <a:pt x="0" y="0"/>
                  </a:moveTo>
                  <a:lnTo>
                    <a:pt x="6435471" y="0"/>
                  </a:lnTo>
                  <a:lnTo>
                    <a:pt x="6435471" y="1195324"/>
                  </a:lnTo>
                  <a:lnTo>
                    <a:pt x="0" y="1195324"/>
                  </a:lnTo>
                  <a:lnTo>
                    <a:pt x="0" y="0"/>
                  </a:lnTo>
                  <a:close/>
                </a:path>
              </a:pathLst>
            </a:custGeom>
            <a:blipFill>
              <a:blip r:embed="rId8"/>
              <a:stretch>
                <a:fillRect l="0" t="-390" r="0" b="-390"/>
              </a:stretch>
            </a:blipFill>
          </p:spPr>
        </p:sp>
      </p:gr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0" y="0"/>
            <a:ext cx="18301811" cy="10295001"/>
            <a:chOff x="0" y="0"/>
            <a:chExt cx="24402415" cy="13726668"/>
          </a:xfrm>
        </p:grpSpPr>
        <p:sp>
          <p:nvSpPr>
            <p:cNvPr name="Freeform 3" id="3"/>
            <p:cNvSpPr/>
            <p:nvPr/>
          </p:nvSpPr>
          <p:spPr>
            <a:xfrm flipH="false" flipV="false" rot="0">
              <a:off x="0" y="0"/>
              <a:ext cx="24402414" cy="13726668"/>
            </a:xfrm>
            <a:custGeom>
              <a:avLst/>
              <a:gdLst/>
              <a:ahLst/>
              <a:cxnLst/>
              <a:rect r="r" b="b" t="t" l="l"/>
              <a:pathLst>
                <a:path h="13726668" w="24402414">
                  <a:moveTo>
                    <a:pt x="0" y="0"/>
                  </a:moveTo>
                  <a:lnTo>
                    <a:pt x="24402414" y="0"/>
                  </a:lnTo>
                  <a:lnTo>
                    <a:pt x="24402414" y="13726668"/>
                  </a:lnTo>
                  <a:lnTo>
                    <a:pt x="0" y="13726668"/>
                  </a:lnTo>
                  <a:close/>
                </a:path>
              </a:pathLst>
            </a:custGeom>
            <a:solidFill>
              <a:srgbClr val="F7EDE9"/>
            </a:solidFill>
          </p:spPr>
        </p:sp>
      </p:grpSp>
      <p:grpSp>
        <p:nvGrpSpPr>
          <p:cNvPr name="Group 4" id="4"/>
          <p:cNvGrpSpPr/>
          <p:nvPr/>
        </p:nvGrpSpPr>
        <p:grpSpPr>
          <a:xfrm rot="0">
            <a:off x="0" y="0"/>
            <a:ext cx="18301811" cy="10295001"/>
            <a:chOff x="0" y="0"/>
            <a:chExt cx="24402415" cy="13726668"/>
          </a:xfrm>
        </p:grpSpPr>
        <p:sp>
          <p:nvSpPr>
            <p:cNvPr name="Freeform 5" id="5"/>
            <p:cNvSpPr/>
            <p:nvPr/>
          </p:nvSpPr>
          <p:spPr>
            <a:xfrm flipH="false" flipV="false" rot="0">
              <a:off x="0" y="0"/>
              <a:ext cx="24402414" cy="13726668"/>
            </a:xfrm>
            <a:custGeom>
              <a:avLst/>
              <a:gdLst/>
              <a:ahLst/>
              <a:cxnLst/>
              <a:rect r="r" b="b" t="t" l="l"/>
              <a:pathLst>
                <a:path h="13726668" w="24402414">
                  <a:moveTo>
                    <a:pt x="0" y="0"/>
                  </a:moveTo>
                  <a:lnTo>
                    <a:pt x="24402414" y="0"/>
                  </a:lnTo>
                  <a:lnTo>
                    <a:pt x="24402414" y="13726668"/>
                  </a:lnTo>
                  <a:lnTo>
                    <a:pt x="0" y="13726668"/>
                  </a:lnTo>
                  <a:close/>
                </a:path>
              </a:pathLst>
            </a:custGeom>
            <a:solidFill>
              <a:srgbClr val="5E1024"/>
            </a:solidFill>
          </p:spPr>
        </p:sp>
      </p:grpSp>
      <p:sp>
        <p:nvSpPr>
          <p:cNvPr name="TextBox 6" id="6"/>
          <p:cNvSpPr txBox="true"/>
          <p:nvPr/>
        </p:nvSpPr>
        <p:spPr>
          <a:xfrm rot="0">
            <a:off x="5056241" y="1063676"/>
            <a:ext cx="8189357" cy="932783"/>
          </a:xfrm>
          <a:prstGeom prst="rect">
            <a:avLst/>
          </a:prstGeom>
        </p:spPr>
        <p:txBody>
          <a:bodyPr anchor="t" rtlCol="false" tIns="0" lIns="0" bIns="0" rIns="0">
            <a:spAutoFit/>
          </a:bodyPr>
          <a:lstStyle/>
          <a:p>
            <a:pPr algn="ctr">
              <a:lnSpc>
                <a:spcPts val="6649"/>
              </a:lnSpc>
            </a:pPr>
            <a:r>
              <a:rPr lang="en-US" sz="5328" b="true">
                <a:solidFill>
                  <a:srgbClr val="C9A227"/>
                </a:solidFill>
                <a:latin typeface="Crimson Pro Bold"/>
                <a:ea typeface="Crimson Pro Bold"/>
                <a:cs typeface="Crimson Pro Bold"/>
                <a:sym typeface="Crimson Pro Bold"/>
              </a:rPr>
              <a:t>Machine Learning Model</a:t>
            </a:r>
          </a:p>
        </p:txBody>
      </p:sp>
      <p:sp>
        <p:nvSpPr>
          <p:cNvPr name="TextBox 7" id="7"/>
          <p:cNvSpPr txBox="true"/>
          <p:nvPr/>
        </p:nvSpPr>
        <p:spPr>
          <a:xfrm rot="0">
            <a:off x="992991" y="2198332"/>
            <a:ext cx="16315868" cy="1245565"/>
          </a:xfrm>
          <a:prstGeom prst="rect">
            <a:avLst/>
          </a:prstGeom>
        </p:spPr>
        <p:txBody>
          <a:bodyPr anchor="t" rtlCol="false" tIns="0" lIns="0" bIns="0" rIns="0">
            <a:spAutoFit/>
          </a:bodyPr>
          <a:lstStyle/>
          <a:p>
            <a:pPr algn="l">
              <a:lnSpc>
                <a:spcPts val="2646"/>
              </a:lnSpc>
            </a:pPr>
            <a:r>
              <a:rPr lang="en-US" sz="1951">
                <a:solidFill>
                  <a:srgbClr val="FFFFFF"/>
                </a:solidFill>
                <a:latin typeface="Open Sans"/>
                <a:ea typeface="Open Sans"/>
                <a:cs typeface="Open Sans"/>
                <a:sym typeface="Open Sans"/>
              </a:rPr>
              <a:t>Random Forest Classifier is an ensemble learning algorithm that combines the predictions of multiple decision trees to make robust and consistent classifications. Each tree independently predicts the output class, and the final prediction is determined through majority voting.</a:t>
            </a:r>
          </a:p>
        </p:txBody>
      </p:sp>
      <p:grpSp>
        <p:nvGrpSpPr>
          <p:cNvPr name="Group 8" id="8"/>
          <p:cNvGrpSpPr/>
          <p:nvPr/>
        </p:nvGrpSpPr>
        <p:grpSpPr>
          <a:xfrm rot="0">
            <a:off x="850001" y="3600288"/>
            <a:ext cx="9209627" cy="5554885"/>
            <a:chOff x="0" y="0"/>
            <a:chExt cx="12279503" cy="7406513"/>
          </a:xfrm>
        </p:grpSpPr>
        <p:sp>
          <p:nvSpPr>
            <p:cNvPr name="Freeform 9" id="9"/>
            <p:cNvSpPr/>
            <p:nvPr/>
          </p:nvSpPr>
          <p:spPr>
            <a:xfrm flipH="false" flipV="false" rot="0">
              <a:off x="0" y="0"/>
              <a:ext cx="12279503" cy="7406513"/>
            </a:xfrm>
            <a:custGeom>
              <a:avLst/>
              <a:gdLst/>
              <a:ahLst/>
              <a:cxnLst/>
              <a:rect r="r" b="b" t="t" l="l"/>
              <a:pathLst>
                <a:path h="7406513" w="12279503">
                  <a:moveTo>
                    <a:pt x="0" y="190627"/>
                  </a:moveTo>
                  <a:cubicBezTo>
                    <a:pt x="0" y="85344"/>
                    <a:pt x="85344" y="0"/>
                    <a:pt x="190627" y="0"/>
                  </a:cubicBezTo>
                  <a:lnTo>
                    <a:pt x="12088876" y="0"/>
                  </a:lnTo>
                  <a:cubicBezTo>
                    <a:pt x="12194159" y="0"/>
                    <a:pt x="12279503" y="85344"/>
                    <a:pt x="12279503" y="190627"/>
                  </a:cubicBezTo>
                  <a:lnTo>
                    <a:pt x="12279503" y="7215886"/>
                  </a:lnTo>
                  <a:cubicBezTo>
                    <a:pt x="12279503" y="7321169"/>
                    <a:pt x="12194159" y="7406513"/>
                    <a:pt x="12088876" y="7406513"/>
                  </a:cubicBezTo>
                  <a:lnTo>
                    <a:pt x="190627" y="7406513"/>
                  </a:lnTo>
                  <a:cubicBezTo>
                    <a:pt x="85344" y="7406513"/>
                    <a:pt x="0" y="7321169"/>
                    <a:pt x="0" y="7215886"/>
                  </a:cubicBezTo>
                  <a:close/>
                </a:path>
              </a:pathLst>
            </a:custGeom>
            <a:solidFill>
              <a:srgbClr val="C9907C"/>
            </a:solidFill>
          </p:spPr>
        </p:sp>
      </p:grpSp>
      <p:sp>
        <p:nvSpPr>
          <p:cNvPr name="TextBox 10" id="10"/>
          <p:cNvSpPr txBox="true"/>
          <p:nvPr/>
        </p:nvSpPr>
        <p:spPr>
          <a:xfrm rot="0">
            <a:off x="1048541" y="3649199"/>
            <a:ext cx="9727616" cy="413861"/>
          </a:xfrm>
          <a:prstGeom prst="rect">
            <a:avLst/>
          </a:prstGeom>
        </p:spPr>
        <p:txBody>
          <a:bodyPr anchor="t" rtlCol="false" tIns="0" lIns="0" bIns="0" rIns="0">
            <a:spAutoFit/>
          </a:bodyPr>
          <a:lstStyle/>
          <a:p>
            <a:pPr algn="l">
              <a:lnSpc>
                <a:spcPts val="2646"/>
              </a:lnSpc>
            </a:pPr>
            <a:r>
              <a:rPr lang="en-US" sz="1951" b="true">
                <a:solidFill>
                  <a:srgbClr val="000000"/>
                </a:solidFill>
                <a:latin typeface="Open Sans Bold"/>
                <a:ea typeface="Open Sans Bold"/>
                <a:cs typeface="Open Sans Bold"/>
                <a:sym typeface="Open Sans Bold"/>
              </a:rPr>
              <a:t>Why Random Forest?</a:t>
            </a:r>
          </a:p>
        </p:txBody>
      </p:sp>
      <p:sp>
        <p:nvSpPr>
          <p:cNvPr name="TextBox 11" id="11"/>
          <p:cNvSpPr txBox="true"/>
          <p:nvPr/>
        </p:nvSpPr>
        <p:spPr>
          <a:xfrm rot="0">
            <a:off x="1048541" y="4150071"/>
            <a:ext cx="8812530" cy="1583246"/>
          </a:xfrm>
          <a:prstGeom prst="rect">
            <a:avLst/>
          </a:prstGeom>
        </p:spPr>
        <p:txBody>
          <a:bodyPr anchor="t" rtlCol="false" tIns="0" lIns="0" bIns="0" rIns="0">
            <a:spAutoFit/>
          </a:bodyPr>
          <a:lstStyle/>
          <a:p>
            <a:pPr algn="l" marL="317039" indent="-105680" lvl="2">
              <a:lnSpc>
                <a:spcPts val="2034"/>
              </a:lnSpc>
              <a:buFont typeface="Arial"/>
              <a:buChar char="⚬"/>
            </a:pPr>
            <a:r>
              <a:rPr lang="en-US" sz="1500">
                <a:solidFill>
                  <a:srgbClr val="000000"/>
                </a:solidFill>
                <a:latin typeface="Open Sans"/>
                <a:ea typeface="Open Sans"/>
                <a:cs typeface="Open Sans"/>
                <a:sym typeface="Open Sans"/>
              </a:rPr>
              <a:t>Handles complex and non-linear relationships effectively</a:t>
            </a:r>
          </a:p>
          <a:p>
            <a:pPr algn="l" marL="317039" indent="-105680" lvl="2">
              <a:lnSpc>
                <a:spcPts val="2034"/>
              </a:lnSpc>
              <a:buFont typeface="Arial"/>
              <a:buChar char="⚬"/>
            </a:pPr>
            <a:r>
              <a:rPr lang="en-US" sz="1500">
                <a:solidFill>
                  <a:srgbClr val="000000"/>
                </a:solidFill>
                <a:latin typeface="Open Sans"/>
                <a:ea typeface="Open Sans"/>
                <a:cs typeface="Open Sans"/>
                <a:sym typeface="Open Sans"/>
              </a:rPr>
              <a:t>Reduces overfitting by combining multiple decision trees</a:t>
            </a:r>
          </a:p>
          <a:p>
            <a:pPr algn="l" marL="317039" indent="-105680" lvl="2">
              <a:lnSpc>
                <a:spcPts val="2034"/>
              </a:lnSpc>
              <a:buFont typeface="Arial"/>
              <a:buChar char="⚬"/>
            </a:pPr>
            <a:r>
              <a:rPr lang="en-US" sz="1500">
                <a:solidFill>
                  <a:srgbClr val="000000"/>
                </a:solidFill>
                <a:latin typeface="Open Sans"/>
                <a:ea typeface="Open Sans"/>
                <a:cs typeface="Open Sans"/>
                <a:sym typeface="Open Sans"/>
              </a:rPr>
              <a:t>Provides strong predictive performance for classification tasks</a:t>
            </a:r>
          </a:p>
          <a:p>
            <a:pPr algn="l" marL="317039" indent="-105680" lvl="2">
              <a:lnSpc>
                <a:spcPts val="2034"/>
              </a:lnSpc>
              <a:buFont typeface="Arial"/>
              <a:buChar char="⚬"/>
            </a:pPr>
            <a:r>
              <a:rPr lang="en-US" sz="1500">
                <a:solidFill>
                  <a:srgbClr val="000000"/>
                </a:solidFill>
                <a:latin typeface="Open Sans"/>
                <a:ea typeface="Open Sans"/>
                <a:cs typeface="Open Sans"/>
                <a:sym typeface="Open Sans"/>
              </a:rPr>
              <a:t>Works well with tabular datasets containing multiple features</a:t>
            </a:r>
          </a:p>
          <a:p>
            <a:pPr algn="l" marL="317039" indent="-105680" lvl="2">
              <a:lnSpc>
                <a:spcPts val="2034"/>
              </a:lnSpc>
              <a:buFont typeface="Arial"/>
              <a:buChar char="⚬"/>
            </a:pPr>
            <a:r>
              <a:rPr lang="en-US" sz="1500">
                <a:solidFill>
                  <a:srgbClr val="000000"/>
                </a:solidFill>
                <a:latin typeface="Open Sans"/>
                <a:ea typeface="Open Sans"/>
                <a:cs typeface="Open Sans"/>
                <a:sym typeface="Open Sans"/>
              </a:rPr>
              <a:t>Identifies the importance of each feature in the prediction process</a:t>
            </a:r>
          </a:p>
        </p:txBody>
      </p:sp>
      <p:sp>
        <p:nvSpPr>
          <p:cNvPr name="TextBox 12" id="12"/>
          <p:cNvSpPr txBox="true"/>
          <p:nvPr/>
        </p:nvSpPr>
        <p:spPr>
          <a:xfrm rot="0">
            <a:off x="1048541" y="6177534"/>
            <a:ext cx="9727616" cy="413861"/>
          </a:xfrm>
          <a:prstGeom prst="rect">
            <a:avLst/>
          </a:prstGeom>
        </p:spPr>
        <p:txBody>
          <a:bodyPr anchor="t" rtlCol="false" tIns="0" lIns="0" bIns="0" rIns="0">
            <a:spAutoFit/>
          </a:bodyPr>
          <a:lstStyle/>
          <a:p>
            <a:pPr algn="l">
              <a:lnSpc>
                <a:spcPts val="2646"/>
              </a:lnSpc>
            </a:pPr>
            <a:r>
              <a:rPr lang="en-US" sz="1951" b="true">
                <a:solidFill>
                  <a:srgbClr val="000000"/>
                </a:solidFill>
                <a:latin typeface="Open Sans Bold"/>
                <a:ea typeface="Open Sans Bold"/>
                <a:cs typeface="Open Sans Bold"/>
                <a:sym typeface="Open Sans Bold"/>
              </a:rPr>
              <a:t>Working Principle</a:t>
            </a:r>
          </a:p>
        </p:txBody>
      </p:sp>
      <p:sp>
        <p:nvSpPr>
          <p:cNvPr name="TextBox 13" id="13"/>
          <p:cNvSpPr txBox="true"/>
          <p:nvPr/>
        </p:nvSpPr>
        <p:spPr>
          <a:xfrm rot="0">
            <a:off x="1048541" y="6678406"/>
            <a:ext cx="8812530" cy="945766"/>
          </a:xfrm>
          <a:prstGeom prst="rect">
            <a:avLst/>
          </a:prstGeom>
        </p:spPr>
        <p:txBody>
          <a:bodyPr anchor="t" rtlCol="false" tIns="0" lIns="0" bIns="0" rIns="0">
            <a:spAutoFit/>
          </a:bodyPr>
          <a:lstStyle/>
          <a:p>
            <a:pPr algn="l" marL="317039" indent="-105680" lvl="2">
              <a:lnSpc>
                <a:spcPts val="2034"/>
              </a:lnSpc>
              <a:buAutoNum type="arabicPeriod" startAt="1"/>
            </a:pPr>
            <a:r>
              <a:rPr lang="en-US" sz="1500">
                <a:solidFill>
                  <a:srgbClr val="000000"/>
                </a:solidFill>
                <a:latin typeface="Open Sans"/>
                <a:ea typeface="Open Sans"/>
                <a:cs typeface="Open Sans"/>
                <a:sym typeface="Open Sans"/>
              </a:rPr>
              <a:t>Multiple decision trees are built using random subsets of the training data.</a:t>
            </a:r>
          </a:p>
          <a:p>
            <a:pPr algn="l" marL="317039" indent="-105680" lvl="2">
              <a:lnSpc>
                <a:spcPts val="2034"/>
              </a:lnSpc>
              <a:buAutoNum type="arabicPeriod" startAt="1"/>
            </a:pPr>
            <a:r>
              <a:rPr lang="en-US" sz="1500">
                <a:solidFill>
                  <a:srgbClr val="000000"/>
                </a:solidFill>
                <a:latin typeface="Open Sans"/>
                <a:ea typeface="Open Sans"/>
                <a:cs typeface="Open Sans"/>
                <a:sym typeface="Open Sans"/>
              </a:rPr>
              <a:t>Each tree predicts the wine quality independently.</a:t>
            </a:r>
          </a:p>
          <a:p>
            <a:pPr algn="l" marL="317039" indent="-105680" lvl="2">
              <a:lnSpc>
                <a:spcPts val="2034"/>
              </a:lnSpc>
              <a:buAutoNum type="arabicPeriod" startAt="1"/>
            </a:pPr>
            <a:r>
              <a:rPr lang="en-US" sz="1500">
                <a:solidFill>
                  <a:srgbClr val="000000"/>
                </a:solidFill>
                <a:latin typeface="Open Sans"/>
                <a:ea typeface="Open Sans"/>
                <a:cs typeface="Open Sans"/>
                <a:sym typeface="Open Sans"/>
              </a:rPr>
              <a:t>The final wine quality score is determined by the majority vote of all trees</a:t>
            </a:r>
          </a:p>
        </p:txBody>
      </p:sp>
      <p:grpSp>
        <p:nvGrpSpPr>
          <p:cNvPr name="Group 14" id="14"/>
          <p:cNvGrpSpPr/>
          <p:nvPr/>
        </p:nvGrpSpPr>
        <p:grpSpPr>
          <a:xfrm rot="0">
            <a:off x="10267531" y="3600288"/>
            <a:ext cx="7193661" cy="5554885"/>
            <a:chOff x="0" y="0"/>
            <a:chExt cx="9591548" cy="7406513"/>
          </a:xfrm>
        </p:grpSpPr>
        <p:sp>
          <p:nvSpPr>
            <p:cNvPr name="Freeform 15" id="15"/>
            <p:cNvSpPr/>
            <p:nvPr/>
          </p:nvSpPr>
          <p:spPr>
            <a:xfrm flipH="false" flipV="false" rot="0">
              <a:off x="0" y="0"/>
              <a:ext cx="9591548" cy="7406513"/>
            </a:xfrm>
            <a:custGeom>
              <a:avLst/>
              <a:gdLst/>
              <a:ahLst/>
              <a:cxnLst/>
              <a:rect r="r" b="b" t="t" l="l"/>
              <a:pathLst>
                <a:path h="7406513" w="9591548">
                  <a:moveTo>
                    <a:pt x="0" y="190627"/>
                  </a:moveTo>
                  <a:cubicBezTo>
                    <a:pt x="0" y="85344"/>
                    <a:pt x="85344" y="0"/>
                    <a:pt x="190627" y="0"/>
                  </a:cubicBezTo>
                  <a:lnTo>
                    <a:pt x="9400921" y="0"/>
                  </a:lnTo>
                  <a:cubicBezTo>
                    <a:pt x="9506203" y="0"/>
                    <a:pt x="9591548" y="85344"/>
                    <a:pt x="9591548" y="190627"/>
                  </a:cubicBezTo>
                  <a:lnTo>
                    <a:pt x="9591548" y="7215886"/>
                  </a:lnTo>
                  <a:cubicBezTo>
                    <a:pt x="9591548" y="7321169"/>
                    <a:pt x="9506203" y="7406513"/>
                    <a:pt x="9400921" y="7406513"/>
                  </a:cubicBezTo>
                  <a:lnTo>
                    <a:pt x="190627" y="7406513"/>
                  </a:lnTo>
                  <a:cubicBezTo>
                    <a:pt x="85344" y="7406513"/>
                    <a:pt x="0" y="7321169"/>
                    <a:pt x="0" y="7215886"/>
                  </a:cubicBezTo>
                  <a:close/>
                </a:path>
              </a:pathLst>
            </a:custGeom>
            <a:solidFill>
              <a:srgbClr val="C9907C"/>
            </a:solidFill>
          </p:spPr>
        </p:sp>
      </p:grpSp>
      <p:grpSp>
        <p:nvGrpSpPr>
          <p:cNvPr name="Group 16" id="16"/>
          <p:cNvGrpSpPr/>
          <p:nvPr/>
        </p:nvGrpSpPr>
        <p:grpSpPr>
          <a:xfrm rot="0">
            <a:off x="11743982" y="4219451"/>
            <a:ext cx="4240625" cy="4779359"/>
            <a:chOff x="0" y="0"/>
            <a:chExt cx="5654167" cy="6372479"/>
          </a:xfrm>
        </p:grpSpPr>
        <p:sp>
          <p:nvSpPr>
            <p:cNvPr name="Freeform 17" id="17" descr="preencoded.png"/>
            <p:cNvSpPr/>
            <p:nvPr/>
          </p:nvSpPr>
          <p:spPr>
            <a:xfrm flipH="false" flipV="false" rot="0">
              <a:off x="0" y="0"/>
              <a:ext cx="5654167" cy="6372479"/>
            </a:xfrm>
            <a:custGeom>
              <a:avLst/>
              <a:gdLst/>
              <a:ahLst/>
              <a:cxnLst/>
              <a:rect r="r" b="b" t="t" l="l"/>
              <a:pathLst>
                <a:path h="6372479" w="5654167">
                  <a:moveTo>
                    <a:pt x="0" y="0"/>
                  </a:moveTo>
                  <a:lnTo>
                    <a:pt x="5654167" y="0"/>
                  </a:lnTo>
                  <a:lnTo>
                    <a:pt x="5654167" y="6372479"/>
                  </a:lnTo>
                  <a:lnTo>
                    <a:pt x="0" y="6372479"/>
                  </a:lnTo>
                  <a:lnTo>
                    <a:pt x="0" y="0"/>
                  </a:lnTo>
                  <a:close/>
                </a:path>
              </a:pathLst>
            </a:custGeom>
            <a:blipFill>
              <a:blip r:embed="rId3"/>
              <a:stretch>
                <a:fillRect l="0" t="-96" r="0" b="-96"/>
              </a:stretch>
            </a:blipFill>
          </p:spPr>
        </p:sp>
      </p:gr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0" y="0"/>
            <a:ext cx="18301811" cy="10295001"/>
            <a:chOff x="0" y="0"/>
            <a:chExt cx="24402415" cy="13726668"/>
          </a:xfrm>
        </p:grpSpPr>
        <p:sp>
          <p:nvSpPr>
            <p:cNvPr name="Freeform 3" id="3"/>
            <p:cNvSpPr/>
            <p:nvPr/>
          </p:nvSpPr>
          <p:spPr>
            <a:xfrm flipH="false" flipV="false" rot="0">
              <a:off x="0" y="0"/>
              <a:ext cx="24402414" cy="13726668"/>
            </a:xfrm>
            <a:custGeom>
              <a:avLst/>
              <a:gdLst/>
              <a:ahLst/>
              <a:cxnLst/>
              <a:rect r="r" b="b" t="t" l="l"/>
              <a:pathLst>
                <a:path h="13726668" w="24402414">
                  <a:moveTo>
                    <a:pt x="0" y="0"/>
                  </a:moveTo>
                  <a:lnTo>
                    <a:pt x="24402414" y="0"/>
                  </a:lnTo>
                  <a:lnTo>
                    <a:pt x="24402414" y="13726668"/>
                  </a:lnTo>
                  <a:lnTo>
                    <a:pt x="0" y="13726668"/>
                  </a:lnTo>
                  <a:close/>
                </a:path>
              </a:pathLst>
            </a:custGeom>
            <a:solidFill>
              <a:srgbClr val="F7EDE9"/>
            </a:solidFill>
          </p:spPr>
        </p:sp>
      </p:grpSp>
      <p:grpSp>
        <p:nvGrpSpPr>
          <p:cNvPr name="Group 4" id="4"/>
          <p:cNvGrpSpPr/>
          <p:nvPr/>
        </p:nvGrpSpPr>
        <p:grpSpPr>
          <a:xfrm rot="0">
            <a:off x="0" y="0"/>
            <a:ext cx="18301811" cy="10295001"/>
            <a:chOff x="0" y="0"/>
            <a:chExt cx="24402415" cy="13726668"/>
          </a:xfrm>
        </p:grpSpPr>
        <p:sp>
          <p:nvSpPr>
            <p:cNvPr name="Freeform 5" id="5"/>
            <p:cNvSpPr/>
            <p:nvPr/>
          </p:nvSpPr>
          <p:spPr>
            <a:xfrm flipH="false" flipV="false" rot="0">
              <a:off x="0" y="0"/>
              <a:ext cx="24402414" cy="13726668"/>
            </a:xfrm>
            <a:custGeom>
              <a:avLst/>
              <a:gdLst/>
              <a:ahLst/>
              <a:cxnLst/>
              <a:rect r="r" b="b" t="t" l="l"/>
              <a:pathLst>
                <a:path h="13726668" w="24402414">
                  <a:moveTo>
                    <a:pt x="0" y="0"/>
                  </a:moveTo>
                  <a:lnTo>
                    <a:pt x="24402414" y="0"/>
                  </a:lnTo>
                  <a:lnTo>
                    <a:pt x="24402414" y="13726668"/>
                  </a:lnTo>
                  <a:lnTo>
                    <a:pt x="0" y="13726668"/>
                  </a:lnTo>
                  <a:close/>
                </a:path>
              </a:pathLst>
            </a:custGeom>
            <a:solidFill>
              <a:srgbClr val="5E1024"/>
            </a:solidFill>
          </p:spPr>
        </p:sp>
      </p:grpSp>
      <p:sp>
        <p:nvSpPr>
          <p:cNvPr name="TextBox 6" id="6"/>
          <p:cNvSpPr txBox="true"/>
          <p:nvPr/>
        </p:nvSpPr>
        <p:spPr>
          <a:xfrm rot="0">
            <a:off x="4775340" y="791537"/>
            <a:ext cx="8751160" cy="852516"/>
          </a:xfrm>
          <a:prstGeom prst="rect">
            <a:avLst/>
          </a:prstGeom>
        </p:spPr>
        <p:txBody>
          <a:bodyPr anchor="t" rtlCol="false" tIns="0" lIns="0" bIns="0" rIns="0">
            <a:spAutoFit/>
          </a:bodyPr>
          <a:lstStyle/>
          <a:p>
            <a:pPr algn="ctr">
              <a:lnSpc>
                <a:spcPts val="6181"/>
              </a:lnSpc>
            </a:pPr>
            <a:r>
              <a:rPr lang="en-US" sz="4952" b="true">
                <a:solidFill>
                  <a:srgbClr val="C9A227"/>
                </a:solidFill>
                <a:latin typeface="Crimson Pro Bold"/>
                <a:ea typeface="Crimson Pro Bold"/>
                <a:cs typeface="Crimson Pro Bold"/>
                <a:sym typeface="Crimson Pro Bold"/>
              </a:rPr>
              <a:t>Model - Training and Testing</a:t>
            </a:r>
          </a:p>
        </p:txBody>
      </p:sp>
      <p:sp>
        <p:nvSpPr>
          <p:cNvPr name="TextBox 7" id="7"/>
          <p:cNvSpPr txBox="true"/>
          <p:nvPr/>
        </p:nvSpPr>
        <p:spPr>
          <a:xfrm rot="0">
            <a:off x="992991" y="2182949"/>
            <a:ext cx="16315868" cy="1236221"/>
          </a:xfrm>
          <a:prstGeom prst="rect">
            <a:avLst/>
          </a:prstGeom>
        </p:spPr>
        <p:txBody>
          <a:bodyPr anchor="t" rtlCol="false" tIns="0" lIns="0" bIns="0" rIns="0">
            <a:spAutoFit/>
          </a:bodyPr>
          <a:lstStyle/>
          <a:p>
            <a:pPr algn="l">
              <a:lnSpc>
                <a:spcPts val="2377"/>
              </a:lnSpc>
            </a:pPr>
            <a:r>
              <a:rPr lang="en-US" sz="1801">
                <a:solidFill>
                  <a:srgbClr val="FFFFFF"/>
                </a:solidFill>
                <a:latin typeface="Open Sans"/>
                <a:ea typeface="Open Sans"/>
                <a:cs typeface="Open Sans"/>
                <a:sym typeface="Open Sans"/>
              </a:rPr>
              <a:t>The wine quality dataset was divided into training and testing datasets. The Random Forest model was trained using the training data and then evaluated using the testing data. The model predicted the quality of wines in the test dataset, and these predictions were compared with the actual values to assess its performance. The results demonstrated that the model was able to identify meaningful patterns in the data and achieve satisfactory predictive performance.</a:t>
            </a:r>
          </a:p>
        </p:txBody>
      </p:sp>
      <p:grpSp>
        <p:nvGrpSpPr>
          <p:cNvPr name="Group 8" id="8"/>
          <p:cNvGrpSpPr/>
          <p:nvPr/>
        </p:nvGrpSpPr>
        <p:grpSpPr>
          <a:xfrm rot="0">
            <a:off x="3851605" y="3993051"/>
            <a:ext cx="10598658" cy="4696778"/>
            <a:chOff x="0" y="0"/>
            <a:chExt cx="14131544" cy="6262370"/>
          </a:xfrm>
        </p:grpSpPr>
        <p:sp>
          <p:nvSpPr>
            <p:cNvPr name="Freeform 9" id="9" descr="preencoded.png"/>
            <p:cNvSpPr/>
            <p:nvPr/>
          </p:nvSpPr>
          <p:spPr>
            <a:xfrm flipH="false" flipV="false" rot="0">
              <a:off x="0" y="0"/>
              <a:ext cx="14131544" cy="6262370"/>
            </a:xfrm>
            <a:custGeom>
              <a:avLst/>
              <a:gdLst/>
              <a:ahLst/>
              <a:cxnLst/>
              <a:rect r="r" b="b" t="t" l="l"/>
              <a:pathLst>
                <a:path h="6262370" w="14131544">
                  <a:moveTo>
                    <a:pt x="0" y="0"/>
                  </a:moveTo>
                  <a:lnTo>
                    <a:pt x="14131544" y="0"/>
                  </a:lnTo>
                  <a:lnTo>
                    <a:pt x="14131544" y="6262370"/>
                  </a:lnTo>
                  <a:lnTo>
                    <a:pt x="0" y="6262370"/>
                  </a:lnTo>
                  <a:lnTo>
                    <a:pt x="0" y="0"/>
                  </a:lnTo>
                  <a:close/>
                </a:path>
              </a:pathLst>
            </a:custGeom>
            <a:blipFill>
              <a:blip r:embed="rId3"/>
              <a:stretch>
                <a:fillRect l="0" t="-73" r="0" b="-73"/>
              </a:stretch>
            </a:blipFill>
          </p:spPr>
        </p:sp>
      </p:gr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0" y="0"/>
            <a:ext cx="18301811" cy="10295001"/>
            <a:chOff x="0" y="0"/>
            <a:chExt cx="24402415" cy="13726668"/>
          </a:xfrm>
        </p:grpSpPr>
        <p:sp>
          <p:nvSpPr>
            <p:cNvPr name="Freeform 3" id="3"/>
            <p:cNvSpPr/>
            <p:nvPr/>
          </p:nvSpPr>
          <p:spPr>
            <a:xfrm flipH="false" flipV="false" rot="0">
              <a:off x="0" y="0"/>
              <a:ext cx="24402414" cy="13726668"/>
            </a:xfrm>
            <a:custGeom>
              <a:avLst/>
              <a:gdLst/>
              <a:ahLst/>
              <a:cxnLst/>
              <a:rect r="r" b="b" t="t" l="l"/>
              <a:pathLst>
                <a:path h="13726668" w="24402414">
                  <a:moveTo>
                    <a:pt x="0" y="0"/>
                  </a:moveTo>
                  <a:lnTo>
                    <a:pt x="24402414" y="0"/>
                  </a:lnTo>
                  <a:lnTo>
                    <a:pt x="24402414" y="13726668"/>
                  </a:lnTo>
                  <a:lnTo>
                    <a:pt x="0" y="13726668"/>
                  </a:lnTo>
                  <a:close/>
                </a:path>
              </a:pathLst>
            </a:custGeom>
            <a:solidFill>
              <a:srgbClr val="F7EDE9"/>
            </a:solidFill>
          </p:spPr>
        </p:sp>
      </p:grpSp>
      <p:grpSp>
        <p:nvGrpSpPr>
          <p:cNvPr name="Group 4" id="4"/>
          <p:cNvGrpSpPr/>
          <p:nvPr/>
        </p:nvGrpSpPr>
        <p:grpSpPr>
          <a:xfrm rot="0">
            <a:off x="0" y="0"/>
            <a:ext cx="18301811" cy="10295001"/>
            <a:chOff x="0" y="0"/>
            <a:chExt cx="24402415" cy="13726668"/>
          </a:xfrm>
        </p:grpSpPr>
        <p:sp>
          <p:nvSpPr>
            <p:cNvPr name="Freeform 5" id="5"/>
            <p:cNvSpPr/>
            <p:nvPr/>
          </p:nvSpPr>
          <p:spPr>
            <a:xfrm flipH="false" flipV="false" rot="0">
              <a:off x="0" y="0"/>
              <a:ext cx="24402414" cy="13726668"/>
            </a:xfrm>
            <a:custGeom>
              <a:avLst/>
              <a:gdLst/>
              <a:ahLst/>
              <a:cxnLst/>
              <a:rect r="r" b="b" t="t" l="l"/>
              <a:pathLst>
                <a:path h="13726668" w="24402414">
                  <a:moveTo>
                    <a:pt x="0" y="0"/>
                  </a:moveTo>
                  <a:lnTo>
                    <a:pt x="24402414" y="0"/>
                  </a:lnTo>
                  <a:lnTo>
                    <a:pt x="24402414" y="13726668"/>
                  </a:lnTo>
                  <a:lnTo>
                    <a:pt x="0" y="13726668"/>
                  </a:lnTo>
                  <a:close/>
                </a:path>
              </a:pathLst>
            </a:custGeom>
            <a:solidFill>
              <a:srgbClr val="5E1024"/>
            </a:solidFill>
          </p:spPr>
        </p:sp>
      </p:grpSp>
      <p:sp>
        <p:nvSpPr>
          <p:cNvPr name="TextBox 6" id="6"/>
          <p:cNvSpPr txBox="true"/>
          <p:nvPr/>
        </p:nvSpPr>
        <p:spPr>
          <a:xfrm rot="0">
            <a:off x="5267144" y="737483"/>
            <a:ext cx="7767561" cy="932783"/>
          </a:xfrm>
          <a:prstGeom prst="rect">
            <a:avLst/>
          </a:prstGeom>
        </p:spPr>
        <p:txBody>
          <a:bodyPr anchor="t" rtlCol="false" tIns="0" lIns="0" bIns="0" rIns="0">
            <a:spAutoFit/>
          </a:bodyPr>
          <a:lstStyle/>
          <a:p>
            <a:pPr algn="ctr">
              <a:lnSpc>
                <a:spcPts val="6649"/>
              </a:lnSpc>
            </a:pPr>
            <a:r>
              <a:rPr lang="en-US" sz="5328" b="true">
                <a:solidFill>
                  <a:srgbClr val="C9A227"/>
                </a:solidFill>
                <a:latin typeface="Crimson Pro Bold"/>
                <a:ea typeface="Crimson Pro Bold"/>
                <a:cs typeface="Crimson Pro Bold"/>
                <a:sym typeface="Crimson Pro Bold"/>
              </a:rPr>
              <a:t>Results</a:t>
            </a:r>
          </a:p>
        </p:txBody>
      </p:sp>
      <p:sp>
        <p:nvSpPr>
          <p:cNvPr name="Freeform 7" id="7"/>
          <p:cNvSpPr/>
          <p:nvPr/>
        </p:nvSpPr>
        <p:spPr>
          <a:xfrm flipH="false" flipV="false" rot="0">
            <a:off x="984647" y="2297020"/>
            <a:ext cx="8105013" cy="1350369"/>
          </a:xfrm>
          <a:custGeom>
            <a:avLst/>
            <a:gdLst/>
            <a:ahLst/>
            <a:cxnLst/>
            <a:rect r="r" b="b" t="t" l="l"/>
            <a:pathLst>
              <a:path h="1350369" w="8105013">
                <a:moveTo>
                  <a:pt x="0" y="0"/>
                </a:moveTo>
                <a:lnTo>
                  <a:pt x="8105013" y="0"/>
                </a:lnTo>
                <a:lnTo>
                  <a:pt x="8105013" y="1350369"/>
                </a:lnTo>
                <a:lnTo>
                  <a:pt x="0" y="135036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8" id="8"/>
          <p:cNvSpPr txBox="true"/>
          <p:nvPr/>
        </p:nvSpPr>
        <p:spPr>
          <a:xfrm rot="0">
            <a:off x="1201055" y="2456288"/>
            <a:ext cx="3972401" cy="553583"/>
          </a:xfrm>
          <a:prstGeom prst="rect">
            <a:avLst/>
          </a:prstGeom>
        </p:spPr>
        <p:txBody>
          <a:bodyPr anchor="t" rtlCol="false" tIns="0" lIns="0" bIns="0" rIns="0">
            <a:spAutoFit/>
          </a:bodyPr>
          <a:lstStyle/>
          <a:p>
            <a:pPr algn="l">
              <a:lnSpc>
                <a:spcPts val="3840"/>
              </a:lnSpc>
            </a:pPr>
            <a:r>
              <a:rPr lang="en-US" sz="3076" b="true">
                <a:solidFill>
                  <a:srgbClr val="000000"/>
                </a:solidFill>
                <a:latin typeface="Crimson Pro Bold"/>
                <a:ea typeface="Crimson Pro Bold"/>
                <a:cs typeface="Crimson Pro Bold"/>
                <a:sym typeface="Crimson Pro Bold"/>
              </a:rPr>
              <a:t>Accuracy</a:t>
            </a:r>
          </a:p>
        </p:txBody>
      </p:sp>
      <p:sp>
        <p:nvSpPr>
          <p:cNvPr name="TextBox 9" id="9"/>
          <p:cNvSpPr txBox="true"/>
          <p:nvPr/>
        </p:nvSpPr>
        <p:spPr>
          <a:xfrm rot="0">
            <a:off x="1201055" y="3017082"/>
            <a:ext cx="7672235" cy="413861"/>
          </a:xfrm>
          <a:prstGeom prst="rect">
            <a:avLst/>
          </a:prstGeom>
        </p:spPr>
        <p:txBody>
          <a:bodyPr anchor="t" rtlCol="false" tIns="0" lIns="0" bIns="0" rIns="0">
            <a:spAutoFit/>
          </a:bodyPr>
          <a:lstStyle/>
          <a:p>
            <a:pPr algn="l">
              <a:lnSpc>
                <a:spcPts val="2646"/>
              </a:lnSpc>
            </a:pPr>
            <a:r>
              <a:rPr lang="en-US" sz="1951">
                <a:solidFill>
                  <a:srgbClr val="000000"/>
                </a:solidFill>
                <a:latin typeface="Open Sans"/>
                <a:ea typeface="Open Sans"/>
                <a:cs typeface="Open Sans"/>
                <a:sym typeface="Open Sans"/>
              </a:rPr>
              <a:t>  68.5589519650655</a:t>
            </a:r>
          </a:p>
        </p:txBody>
      </p:sp>
      <p:sp>
        <p:nvSpPr>
          <p:cNvPr name="Freeform 10" id="10"/>
          <p:cNvSpPr/>
          <p:nvPr/>
        </p:nvSpPr>
        <p:spPr>
          <a:xfrm flipH="false" flipV="false" rot="0">
            <a:off x="9211989" y="2297020"/>
            <a:ext cx="8105213" cy="1350369"/>
          </a:xfrm>
          <a:custGeom>
            <a:avLst/>
            <a:gdLst/>
            <a:ahLst/>
            <a:cxnLst/>
            <a:rect r="r" b="b" t="t" l="l"/>
            <a:pathLst>
              <a:path h="1350369" w="8105213">
                <a:moveTo>
                  <a:pt x="0" y="0"/>
                </a:moveTo>
                <a:lnTo>
                  <a:pt x="8105213" y="0"/>
                </a:lnTo>
                <a:lnTo>
                  <a:pt x="8105213" y="1350369"/>
                </a:lnTo>
                <a:lnTo>
                  <a:pt x="0" y="135036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1" id="11"/>
          <p:cNvSpPr txBox="true"/>
          <p:nvPr/>
        </p:nvSpPr>
        <p:spPr>
          <a:xfrm rot="0">
            <a:off x="9428397" y="2456288"/>
            <a:ext cx="3972401" cy="553583"/>
          </a:xfrm>
          <a:prstGeom prst="rect">
            <a:avLst/>
          </a:prstGeom>
        </p:spPr>
        <p:txBody>
          <a:bodyPr anchor="t" rtlCol="false" tIns="0" lIns="0" bIns="0" rIns="0">
            <a:spAutoFit/>
          </a:bodyPr>
          <a:lstStyle/>
          <a:p>
            <a:pPr algn="l">
              <a:lnSpc>
                <a:spcPts val="3840"/>
              </a:lnSpc>
            </a:pPr>
            <a:r>
              <a:rPr lang="en-US" sz="3076" b="true">
                <a:solidFill>
                  <a:srgbClr val="000000"/>
                </a:solidFill>
                <a:latin typeface="Crimson Pro Bold"/>
                <a:ea typeface="Crimson Pro Bold"/>
                <a:cs typeface="Crimson Pro Bold"/>
                <a:sym typeface="Crimson Pro Bold"/>
              </a:rPr>
              <a:t>F1 Score</a:t>
            </a:r>
          </a:p>
        </p:txBody>
      </p:sp>
      <p:sp>
        <p:nvSpPr>
          <p:cNvPr name="TextBox 12" id="12"/>
          <p:cNvSpPr txBox="true"/>
          <p:nvPr/>
        </p:nvSpPr>
        <p:spPr>
          <a:xfrm rot="0">
            <a:off x="9428397" y="3017082"/>
            <a:ext cx="7672388" cy="413861"/>
          </a:xfrm>
          <a:prstGeom prst="rect">
            <a:avLst/>
          </a:prstGeom>
        </p:spPr>
        <p:txBody>
          <a:bodyPr anchor="t" rtlCol="false" tIns="0" lIns="0" bIns="0" rIns="0">
            <a:spAutoFit/>
          </a:bodyPr>
          <a:lstStyle/>
          <a:p>
            <a:pPr algn="l">
              <a:lnSpc>
                <a:spcPts val="2646"/>
              </a:lnSpc>
            </a:pPr>
            <a:r>
              <a:rPr lang="en-US" sz="1951">
                <a:solidFill>
                  <a:srgbClr val="000000"/>
                </a:solidFill>
                <a:latin typeface="Open Sans"/>
                <a:ea typeface="Open Sans"/>
                <a:cs typeface="Open Sans"/>
                <a:sym typeface="Open Sans"/>
              </a:rPr>
              <a:t>0.666742</a:t>
            </a:r>
          </a:p>
        </p:txBody>
      </p:sp>
      <p:grpSp>
        <p:nvGrpSpPr>
          <p:cNvPr name="Group 13" id="13"/>
          <p:cNvGrpSpPr/>
          <p:nvPr/>
        </p:nvGrpSpPr>
        <p:grpSpPr>
          <a:xfrm rot="0">
            <a:off x="850001" y="3795408"/>
            <a:ext cx="8201692" cy="5685949"/>
            <a:chOff x="0" y="0"/>
            <a:chExt cx="10935589" cy="7581265"/>
          </a:xfrm>
        </p:grpSpPr>
        <p:sp>
          <p:nvSpPr>
            <p:cNvPr name="Freeform 14" id="14"/>
            <p:cNvSpPr/>
            <p:nvPr/>
          </p:nvSpPr>
          <p:spPr>
            <a:xfrm flipH="false" flipV="false" rot="0">
              <a:off x="0" y="0"/>
              <a:ext cx="10935589" cy="7581265"/>
            </a:xfrm>
            <a:custGeom>
              <a:avLst/>
              <a:gdLst/>
              <a:ahLst/>
              <a:cxnLst/>
              <a:rect r="r" b="b" t="t" l="l"/>
              <a:pathLst>
                <a:path h="7581265" w="10935589">
                  <a:moveTo>
                    <a:pt x="0" y="190627"/>
                  </a:moveTo>
                  <a:cubicBezTo>
                    <a:pt x="0" y="85344"/>
                    <a:pt x="85344" y="0"/>
                    <a:pt x="190627" y="0"/>
                  </a:cubicBezTo>
                  <a:lnTo>
                    <a:pt x="10744962" y="0"/>
                  </a:lnTo>
                  <a:cubicBezTo>
                    <a:pt x="10850245" y="0"/>
                    <a:pt x="10935589" y="85344"/>
                    <a:pt x="10935589" y="190627"/>
                  </a:cubicBezTo>
                  <a:lnTo>
                    <a:pt x="10935589" y="7390638"/>
                  </a:lnTo>
                  <a:cubicBezTo>
                    <a:pt x="10935589" y="7495921"/>
                    <a:pt x="10850245" y="7581265"/>
                    <a:pt x="10744962" y="7581265"/>
                  </a:cubicBezTo>
                  <a:lnTo>
                    <a:pt x="190627" y="7581265"/>
                  </a:lnTo>
                  <a:cubicBezTo>
                    <a:pt x="85344" y="7581265"/>
                    <a:pt x="0" y="7495921"/>
                    <a:pt x="0" y="7390638"/>
                  </a:cubicBezTo>
                  <a:close/>
                </a:path>
              </a:pathLst>
            </a:custGeom>
            <a:solidFill>
              <a:srgbClr val="C9907C"/>
            </a:solidFill>
          </p:spPr>
        </p:sp>
      </p:grpSp>
      <p:sp>
        <p:nvSpPr>
          <p:cNvPr name="TextBox 15" id="15"/>
          <p:cNvSpPr txBox="true"/>
          <p:nvPr/>
        </p:nvSpPr>
        <p:spPr>
          <a:xfrm rot="0">
            <a:off x="1048541" y="3877218"/>
            <a:ext cx="4887487" cy="553583"/>
          </a:xfrm>
          <a:prstGeom prst="rect">
            <a:avLst/>
          </a:prstGeom>
        </p:spPr>
        <p:txBody>
          <a:bodyPr anchor="t" rtlCol="false" tIns="0" lIns="0" bIns="0" rIns="0">
            <a:spAutoFit/>
          </a:bodyPr>
          <a:lstStyle/>
          <a:p>
            <a:pPr algn="l">
              <a:lnSpc>
                <a:spcPts val="3840"/>
              </a:lnSpc>
            </a:pPr>
            <a:r>
              <a:rPr lang="en-US" sz="3076" b="true">
                <a:solidFill>
                  <a:srgbClr val="000000"/>
                </a:solidFill>
                <a:latin typeface="Crimson Pro Bold"/>
                <a:ea typeface="Crimson Pro Bold"/>
                <a:cs typeface="Crimson Pro Bold"/>
                <a:sym typeface="Crimson Pro Bold"/>
              </a:rPr>
              <a:t>Confusion Matrix</a:t>
            </a:r>
          </a:p>
        </p:txBody>
      </p:sp>
      <p:grpSp>
        <p:nvGrpSpPr>
          <p:cNvPr name="Group 16" id="16"/>
          <p:cNvGrpSpPr/>
          <p:nvPr/>
        </p:nvGrpSpPr>
        <p:grpSpPr>
          <a:xfrm rot="0">
            <a:off x="2219220" y="4587192"/>
            <a:ext cx="5463159" cy="4737735"/>
            <a:chOff x="0" y="0"/>
            <a:chExt cx="7284212" cy="6316980"/>
          </a:xfrm>
        </p:grpSpPr>
        <p:sp>
          <p:nvSpPr>
            <p:cNvPr name="Freeform 17" id="17" descr="preencoded.png"/>
            <p:cNvSpPr/>
            <p:nvPr/>
          </p:nvSpPr>
          <p:spPr>
            <a:xfrm flipH="false" flipV="false" rot="0">
              <a:off x="0" y="0"/>
              <a:ext cx="7284212" cy="6316980"/>
            </a:xfrm>
            <a:custGeom>
              <a:avLst/>
              <a:gdLst/>
              <a:ahLst/>
              <a:cxnLst/>
              <a:rect r="r" b="b" t="t" l="l"/>
              <a:pathLst>
                <a:path h="6316980" w="7284212">
                  <a:moveTo>
                    <a:pt x="0" y="0"/>
                  </a:moveTo>
                  <a:lnTo>
                    <a:pt x="7284212" y="0"/>
                  </a:lnTo>
                  <a:lnTo>
                    <a:pt x="7284212" y="6316980"/>
                  </a:lnTo>
                  <a:lnTo>
                    <a:pt x="0" y="6316980"/>
                  </a:lnTo>
                  <a:lnTo>
                    <a:pt x="0" y="0"/>
                  </a:lnTo>
                  <a:close/>
                </a:path>
              </a:pathLst>
            </a:custGeom>
            <a:blipFill>
              <a:blip r:embed="rId7"/>
              <a:stretch>
                <a:fillRect l="0" t="-40" r="0" b="-41"/>
              </a:stretch>
            </a:blipFill>
          </p:spPr>
        </p:sp>
      </p:grpSp>
      <p:grpSp>
        <p:nvGrpSpPr>
          <p:cNvPr name="Group 18" id="18"/>
          <p:cNvGrpSpPr/>
          <p:nvPr/>
        </p:nvGrpSpPr>
        <p:grpSpPr>
          <a:xfrm rot="0">
            <a:off x="9259643" y="3795408"/>
            <a:ext cx="8201692" cy="5685949"/>
            <a:chOff x="0" y="0"/>
            <a:chExt cx="10935589" cy="7581265"/>
          </a:xfrm>
        </p:grpSpPr>
        <p:sp>
          <p:nvSpPr>
            <p:cNvPr name="Freeform 19" id="19"/>
            <p:cNvSpPr/>
            <p:nvPr/>
          </p:nvSpPr>
          <p:spPr>
            <a:xfrm flipH="false" flipV="false" rot="0">
              <a:off x="0" y="0"/>
              <a:ext cx="10935589" cy="7581265"/>
            </a:xfrm>
            <a:custGeom>
              <a:avLst/>
              <a:gdLst/>
              <a:ahLst/>
              <a:cxnLst/>
              <a:rect r="r" b="b" t="t" l="l"/>
              <a:pathLst>
                <a:path h="7581265" w="10935589">
                  <a:moveTo>
                    <a:pt x="0" y="190627"/>
                  </a:moveTo>
                  <a:cubicBezTo>
                    <a:pt x="0" y="85344"/>
                    <a:pt x="85344" y="0"/>
                    <a:pt x="190627" y="0"/>
                  </a:cubicBezTo>
                  <a:lnTo>
                    <a:pt x="10744962" y="0"/>
                  </a:lnTo>
                  <a:cubicBezTo>
                    <a:pt x="10850245" y="0"/>
                    <a:pt x="10935589" y="85344"/>
                    <a:pt x="10935589" y="190627"/>
                  </a:cubicBezTo>
                  <a:lnTo>
                    <a:pt x="10935589" y="7390638"/>
                  </a:lnTo>
                  <a:cubicBezTo>
                    <a:pt x="10935589" y="7495921"/>
                    <a:pt x="10850245" y="7581265"/>
                    <a:pt x="10744962" y="7581265"/>
                  </a:cubicBezTo>
                  <a:lnTo>
                    <a:pt x="190627" y="7581265"/>
                  </a:lnTo>
                  <a:cubicBezTo>
                    <a:pt x="85344" y="7581265"/>
                    <a:pt x="0" y="7495921"/>
                    <a:pt x="0" y="7390638"/>
                  </a:cubicBezTo>
                  <a:close/>
                </a:path>
              </a:pathLst>
            </a:custGeom>
            <a:solidFill>
              <a:srgbClr val="C9907C"/>
            </a:solidFill>
          </p:spPr>
        </p:sp>
      </p:grpSp>
      <p:sp>
        <p:nvSpPr>
          <p:cNvPr name="TextBox 20" id="20"/>
          <p:cNvSpPr txBox="true"/>
          <p:nvPr/>
        </p:nvSpPr>
        <p:spPr>
          <a:xfrm rot="0">
            <a:off x="9458182" y="3877218"/>
            <a:ext cx="4887487" cy="553583"/>
          </a:xfrm>
          <a:prstGeom prst="rect">
            <a:avLst/>
          </a:prstGeom>
        </p:spPr>
        <p:txBody>
          <a:bodyPr anchor="t" rtlCol="false" tIns="0" lIns="0" bIns="0" rIns="0">
            <a:spAutoFit/>
          </a:bodyPr>
          <a:lstStyle/>
          <a:p>
            <a:pPr algn="l">
              <a:lnSpc>
                <a:spcPts val="3840"/>
              </a:lnSpc>
            </a:pPr>
            <a:r>
              <a:rPr lang="en-US" sz="3076" b="true">
                <a:solidFill>
                  <a:srgbClr val="000000"/>
                </a:solidFill>
                <a:latin typeface="Crimson Pro Bold"/>
                <a:ea typeface="Crimson Pro Bold"/>
                <a:cs typeface="Crimson Pro Bold"/>
                <a:sym typeface="Crimson Pro Bold"/>
              </a:rPr>
              <a:t>Classification  Report</a:t>
            </a:r>
          </a:p>
        </p:txBody>
      </p:sp>
      <p:grpSp>
        <p:nvGrpSpPr>
          <p:cNvPr name="Group 21" id="21"/>
          <p:cNvGrpSpPr/>
          <p:nvPr/>
        </p:nvGrpSpPr>
        <p:grpSpPr>
          <a:xfrm rot="0">
            <a:off x="10628862" y="4587192"/>
            <a:ext cx="5463159" cy="2614422"/>
            <a:chOff x="0" y="0"/>
            <a:chExt cx="7284212" cy="3485896"/>
          </a:xfrm>
        </p:grpSpPr>
        <p:sp>
          <p:nvSpPr>
            <p:cNvPr name="Freeform 22" id="22" descr="preencoded.png"/>
            <p:cNvSpPr/>
            <p:nvPr/>
          </p:nvSpPr>
          <p:spPr>
            <a:xfrm flipH="false" flipV="false" rot="0">
              <a:off x="0" y="0"/>
              <a:ext cx="7284212" cy="3485896"/>
            </a:xfrm>
            <a:custGeom>
              <a:avLst/>
              <a:gdLst/>
              <a:ahLst/>
              <a:cxnLst/>
              <a:rect r="r" b="b" t="t" l="l"/>
              <a:pathLst>
                <a:path h="3485896" w="7284212">
                  <a:moveTo>
                    <a:pt x="0" y="0"/>
                  </a:moveTo>
                  <a:lnTo>
                    <a:pt x="7284212" y="0"/>
                  </a:lnTo>
                  <a:lnTo>
                    <a:pt x="7284212" y="3485896"/>
                  </a:lnTo>
                  <a:lnTo>
                    <a:pt x="0" y="3485896"/>
                  </a:lnTo>
                  <a:lnTo>
                    <a:pt x="0" y="0"/>
                  </a:lnTo>
                  <a:close/>
                </a:path>
              </a:pathLst>
            </a:custGeom>
            <a:blipFill>
              <a:blip r:embed="rId8"/>
              <a:stretch>
                <a:fillRect l="0" t="-41" r="0" b="-41"/>
              </a:stretch>
            </a:blipFill>
          </p:spPr>
        </p:sp>
      </p:gr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0" y="0"/>
            <a:ext cx="18301811" cy="10295001"/>
            <a:chOff x="0" y="0"/>
            <a:chExt cx="24402415" cy="13726668"/>
          </a:xfrm>
        </p:grpSpPr>
        <p:sp>
          <p:nvSpPr>
            <p:cNvPr name="Freeform 3" id="3"/>
            <p:cNvSpPr/>
            <p:nvPr/>
          </p:nvSpPr>
          <p:spPr>
            <a:xfrm flipH="false" flipV="false" rot="0">
              <a:off x="0" y="0"/>
              <a:ext cx="24402414" cy="13726668"/>
            </a:xfrm>
            <a:custGeom>
              <a:avLst/>
              <a:gdLst/>
              <a:ahLst/>
              <a:cxnLst/>
              <a:rect r="r" b="b" t="t" l="l"/>
              <a:pathLst>
                <a:path h="13726668" w="24402414">
                  <a:moveTo>
                    <a:pt x="0" y="0"/>
                  </a:moveTo>
                  <a:lnTo>
                    <a:pt x="24402414" y="0"/>
                  </a:lnTo>
                  <a:lnTo>
                    <a:pt x="24402414" y="13726668"/>
                  </a:lnTo>
                  <a:lnTo>
                    <a:pt x="0" y="13726668"/>
                  </a:lnTo>
                  <a:close/>
                </a:path>
              </a:pathLst>
            </a:custGeom>
            <a:solidFill>
              <a:srgbClr val="F7EDE9"/>
            </a:solidFill>
          </p:spPr>
        </p:sp>
      </p:grpSp>
      <p:grpSp>
        <p:nvGrpSpPr>
          <p:cNvPr name="Group 4" id="4"/>
          <p:cNvGrpSpPr/>
          <p:nvPr/>
        </p:nvGrpSpPr>
        <p:grpSpPr>
          <a:xfrm rot="0">
            <a:off x="0" y="0"/>
            <a:ext cx="18301811" cy="10295001"/>
            <a:chOff x="0" y="0"/>
            <a:chExt cx="24402415" cy="13726668"/>
          </a:xfrm>
        </p:grpSpPr>
        <p:sp>
          <p:nvSpPr>
            <p:cNvPr name="Freeform 5" id="5"/>
            <p:cNvSpPr/>
            <p:nvPr/>
          </p:nvSpPr>
          <p:spPr>
            <a:xfrm flipH="false" flipV="false" rot="0">
              <a:off x="0" y="0"/>
              <a:ext cx="24402414" cy="13726668"/>
            </a:xfrm>
            <a:custGeom>
              <a:avLst/>
              <a:gdLst/>
              <a:ahLst/>
              <a:cxnLst/>
              <a:rect r="r" b="b" t="t" l="l"/>
              <a:pathLst>
                <a:path h="13726668" w="24402414">
                  <a:moveTo>
                    <a:pt x="0" y="0"/>
                  </a:moveTo>
                  <a:lnTo>
                    <a:pt x="24402414" y="0"/>
                  </a:lnTo>
                  <a:lnTo>
                    <a:pt x="24402414" y="13726668"/>
                  </a:lnTo>
                  <a:lnTo>
                    <a:pt x="0" y="13726668"/>
                  </a:lnTo>
                  <a:close/>
                </a:path>
              </a:pathLst>
            </a:custGeom>
            <a:solidFill>
              <a:srgbClr val="5E1024"/>
            </a:solidFill>
          </p:spPr>
        </p:sp>
      </p:grpSp>
      <p:sp>
        <p:nvSpPr>
          <p:cNvPr name="TextBox 6" id="6"/>
          <p:cNvSpPr txBox="true"/>
          <p:nvPr/>
        </p:nvSpPr>
        <p:spPr>
          <a:xfrm rot="0">
            <a:off x="992991" y="2537241"/>
            <a:ext cx="16315868" cy="4422638"/>
          </a:xfrm>
          <a:prstGeom prst="rect">
            <a:avLst/>
          </a:prstGeom>
        </p:spPr>
        <p:txBody>
          <a:bodyPr anchor="t" rtlCol="false" tIns="0" lIns="0" bIns="0" rIns="0">
            <a:spAutoFit/>
          </a:bodyPr>
          <a:lstStyle/>
          <a:p>
            <a:pPr algn="l">
              <a:lnSpc>
                <a:spcPts val="3474"/>
              </a:lnSpc>
            </a:pPr>
            <a:r>
              <a:rPr lang="en-US" sz="2176">
                <a:solidFill>
                  <a:srgbClr val="FFFFFF"/>
                </a:solidFill>
                <a:latin typeface="Open Sans"/>
                <a:ea typeface="Open Sans"/>
                <a:cs typeface="Open Sans"/>
                <a:sym typeface="Open Sans"/>
              </a:rPr>
              <a:t>This project demonstrated the successful application of the Random Forest Classifier to predict wine quality using its physicochemical properties. By analyzing 11 chemical characteristics of wine, the model was able to learn meaningful patterns and classify wine quality effectively.</a:t>
            </a:r>
          </a:p>
          <a:p>
            <a:pPr algn="l">
              <a:lnSpc>
                <a:spcPts val="3474"/>
              </a:lnSpc>
            </a:pPr>
            <a:r>
              <a:rPr lang="en-US" sz="2176">
                <a:solidFill>
                  <a:srgbClr val="FFFFFF"/>
                </a:solidFill>
                <a:latin typeface="Open Sans"/>
                <a:ea typeface="Open Sans"/>
                <a:cs typeface="Open Sans"/>
                <a:sym typeface="Open Sans"/>
              </a:rPr>
              <a:t>The trained model achieved promising results on unseen test data, demonstrating the feasibility of using machine learning for wine quality prediction. The results highlight the potential of machine learning techniques in automating quality assessment processes that traditionally rely on human expertise.</a:t>
            </a:r>
          </a:p>
          <a:p>
            <a:pPr algn="l">
              <a:lnSpc>
                <a:spcPts val="3474"/>
              </a:lnSpc>
            </a:pPr>
            <a:r>
              <a:rPr lang="en-US" sz="2176">
                <a:solidFill>
                  <a:srgbClr val="FFFFFF"/>
                </a:solidFill>
                <a:latin typeface="Open Sans"/>
                <a:ea typeface="Open Sans"/>
                <a:cs typeface="Open Sans"/>
                <a:sym typeface="Open Sans"/>
              </a:rPr>
              <a:t>Overall, this project showcases how data-driven approaches can support faster, more consistent, and cost-effective decision-making in the food and beverage industry.</a:t>
            </a:r>
          </a:p>
        </p:txBody>
      </p:sp>
      <p:sp>
        <p:nvSpPr>
          <p:cNvPr name="Freeform 7" id="7"/>
          <p:cNvSpPr/>
          <p:nvPr/>
        </p:nvSpPr>
        <p:spPr>
          <a:xfrm flipH="false" flipV="false" rot="0">
            <a:off x="984647" y="7270728"/>
            <a:ext cx="16332527" cy="2134276"/>
          </a:xfrm>
          <a:custGeom>
            <a:avLst/>
            <a:gdLst/>
            <a:ahLst/>
            <a:cxnLst/>
            <a:rect r="r" b="b" t="t" l="l"/>
            <a:pathLst>
              <a:path h="2134276" w="16332527">
                <a:moveTo>
                  <a:pt x="0" y="0"/>
                </a:moveTo>
                <a:lnTo>
                  <a:pt x="16332527" y="0"/>
                </a:lnTo>
                <a:lnTo>
                  <a:pt x="16332527" y="2134276"/>
                </a:lnTo>
                <a:lnTo>
                  <a:pt x="0" y="213427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8" id="8"/>
          <p:cNvSpPr/>
          <p:nvPr/>
        </p:nvSpPr>
        <p:spPr>
          <a:xfrm flipH="false" flipV="false" rot="0">
            <a:off x="712632" y="6970081"/>
            <a:ext cx="16824293" cy="2733827"/>
          </a:xfrm>
          <a:custGeom>
            <a:avLst/>
            <a:gdLst/>
            <a:ahLst/>
            <a:cxnLst/>
            <a:rect r="r" b="b" t="t" l="l"/>
            <a:pathLst>
              <a:path h="2733827" w="16824293">
                <a:moveTo>
                  <a:pt x="0" y="0"/>
                </a:moveTo>
                <a:lnTo>
                  <a:pt x="16824293" y="0"/>
                </a:lnTo>
                <a:lnTo>
                  <a:pt x="16824293" y="2733827"/>
                </a:lnTo>
                <a:lnTo>
                  <a:pt x="0" y="273382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9" id="9"/>
          <p:cNvSpPr txBox="true"/>
          <p:nvPr/>
        </p:nvSpPr>
        <p:spPr>
          <a:xfrm rot="0">
            <a:off x="3798732" y="803186"/>
            <a:ext cx="10704376" cy="1318974"/>
          </a:xfrm>
          <a:prstGeom prst="rect">
            <a:avLst/>
          </a:prstGeom>
        </p:spPr>
        <p:txBody>
          <a:bodyPr anchor="t" rtlCol="false" tIns="0" lIns="0" bIns="0" rIns="0">
            <a:spAutoFit/>
          </a:bodyPr>
          <a:lstStyle/>
          <a:p>
            <a:pPr algn="ctr">
              <a:lnSpc>
                <a:spcPts val="9554"/>
              </a:lnSpc>
            </a:pPr>
            <a:r>
              <a:rPr lang="en-US" sz="7655" b="true">
                <a:solidFill>
                  <a:srgbClr val="C9A227"/>
                </a:solidFill>
                <a:latin typeface="Crimson Pro Bold"/>
                <a:ea typeface="Crimson Pro Bold"/>
                <a:cs typeface="Crimson Pro Bold"/>
                <a:sym typeface="Crimson Pro Bold"/>
              </a:rPr>
              <a:t>Conclusion</a:t>
            </a:r>
          </a:p>
        </p:txBody>
      </p:sp>
      <p:sp>
        <p:nvSpPr>
          <p:cNvPr name="TextBox 10" id="10"/>
          <p:cNvSpPr txBox="true"/>
          <p:nvPr/>
        </p:nvSpPr>
        <p:spPr>
          <a:xfrm rot="0">
            <a:off x="1286256" y="7515187"/>
            <a:ext cx="3546729" cy="509940"/>
          </a:xfrm>
          <a:prstGeom prst="rect">
            <a:avLst/>
          </a:prstGeom>
        </p:spPr>
        <p:txBody>
          <a:bodyPr anchor="t" rtlCol="false" tIns="0" lIns="0" bIns="0" rIns="0">
            <a:spAutoFit/>
          </a:bodyPr>
          <a:lstStyle/>
          <a:p>
            <a:pPr algn="l">
              <a:lnSpc>
                <a:spcPts val="3465"/>
              </a:lnSpc>
            </a:pPr>
            <a:r>
              <a:rPr lang="en-US" sz="2776" b="true">
                <a:solidFill>
                  <a:srgbClr val="000000"/>
                </a:solidFill>
                <a:latin typeface="Crimson Pro Bold"/>
                <a:ea typeface="Crimson Pro Bold"/>
                <a:cs typeface="Crimson Pro Bold"/>
                <a:sym typeface="Crimson Pro Bold"/>
              </a:rPr>
              <a:t>Final Thought💡</a:t>
            </a:r>
          </a:p>
        </p:txBody>
      </p:sp>
      <p:sp>
        <p:nvSpPr>
          <p:cNvPr name="TextBox 11" id="11"/>
          <p:cNvSpPr txBox="true"/>
          <p:nvPr/>
        </p:nvSpPr>
        <p:spPr>
          <a:xfrm rot="0">
            <a:off x="1286256" y="8042977"/>
            <a:ext cx="15729337" cy="1060371"/>
          </a:xfrm>
          <a:prstGeom prst="rect">
            <a:avLst/>
          </a:prstGeom>
        </p:spPr>
        <p:txBody>
          <a:bodyPr anchor="t" rtlCol="false" tIns="0" lIns="0" bIns="0" rIns="0">
            <a:spAutoFit/>
          </a:bodyPr>
          <a:lstStyle/>
          <a:p>
            <a:pPr algn="l">
              <a:lnSpc>
                <a:spcPts val="3474"/>
              </a:lnSpc>
            </a:pPr>
            <a:r>
              <a:rPr lang="en-US" sz="2176">
                <a:solidFill>
                  <a:srgbClr val="000000"/>
                </a:solidFill>
                <a:latin typeface="Open Sans"/>
                <a:ea typeface="Open Sans"/>
                <a:cs typeface="Open Sans"/>
                <a:sym typeface="Open Sans"/>
              </a:rPr>
              <a:t>The successful implementation of this project highlights the potential of machine learning to provide efficient, objective and data-driven solutions for real-world quality prediction tasks</a:t>
            </a:r>
          </a:p>
        </p:txBody>
      </p:sp>
    </p:spTree>
  </p:cSld>
  <p:clrMapOvr>
    <a:masterClrMapping/>
  </p:clrMapOvr>
</p:sld>
</file>

<file path=ppt/slides/slide12.xml><?xml version="1.0" encoding="utf-8"?>
<p:sld xmlns:p="http://schemas.openxmlformats.org/presentationml/2006/main" xmlns:a="http://schemas.openxmlformats.org/drawingml/2006/main">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0" y="0"/>
            <a:ext cx="18301811" cy="10295001"/>
            <a:chOff x="0" y="0"/>
            <a:chExt cx="24402415" cy="13726668"/>
          </a:xfrm>
        </p:grpSpPr>
        <p:sp>
          <p:nvSpPr>
            <p:cNvPr name="Freeform 3" id="3"/>
            <p:cNvSpPr/>
            <p:nvPr/>
          </p:nvSpPr>
          <p:spPr>
            <a:xfrm flipH="false" flipV="false" rot="0">
              <a:off x="0" y="0"/>
              <a:ext cx="24402414" cy="13726668"/>
            </a:xfrm>
            <a:custGeom>
              <a:avLst/>
              <a:gdLst/>
              <a:ahLst/>
              <a:cxnLst/>
              <a:rect r="r" b="b" t="t" l="l"/>
              <a:pathLst>
                <a:path h="13726668" w="24402414">
                  <a:moveTo>
                    <a:pt x="0" y="0"/>
                  </a:moveTo>
                  <a:lnTo>
                    <a:pt x="24402414" y="0"/>
                  </a:lnTo>
                  <a:lnTo>
                    <a:pt x="24402414" y="13726668"/>
                  </a:lnTo>
                  <a:lnTo>
                    <a:pt x="0" y="13726668"/>
                  </a:lnTo>
                  <a:close/>
                </a:path>
              </a:pathLst>
            </a:custGeom>
            <a:solidFill>
              <a:srgbClr val="F7EDE9"/>
            </a:solidFill>
          </p:spPr>
        </p:sp>
      </p:grpSp>
      <p:grpSp>
        <p:nvGrpSpPr>
          <p:cNvPr name="Group 4" id="4"/>
          <p:cNvGrpSpPr/>
          <p:nvPr/>
        </p:nvGrpSpPr>
        <p:grpSpPr>
          <a:xfrm rot="0">
            <a:off x="0" y="0"/>
            <a:ext cx="18301811" cy="10295001"/>
            <a:chOff x="0" y="0"/>
            <a:chExt cx="24402415" cy="13726668"/>
          </a:xfrm>
        </p:grpSpPr>
        <p:sp>
          <p:nvSpPr>
            <p:cNvPr name="Freeform 5" id="5"/>
            <p:cNvSpPr/>
            <p:nvPr/>
          </p:nvSpPr>
          <p:spPr>
            <a:xfrm flipH="false" flipV="false" rot="0">
              <a:off x="0" y="0"/>
              <a:ext cx="24402414" cy="13726668"/>
            </a:xfrm>
            <a:custGeom>
              <a:avLst/>
              <a:gdLst/>
              <a:ahLst/>
              <a:cxnLst/>
              <a:rect r="r" b="b" t="t" l="l"/>
              <a:pathLst>
                <a:path h="13726668" w="24402414">
                  <a:moveTo>
                    <a:pt x="0" y="0"/>
                  </a:moveTo>
                  <a:lnTo>
                    <a:pt x="24402414" y="0"/>
                  </a:lnTo>
                  <a:lnTo>
                    <a:pt x="24402414" y="13726668"/>
                  </a:lnTo>
                  <a:lnTo>
                    <a:pt x="0" y="13726668"/>
                  </a:lnTo>
                  <a:close/>
                </a:path>
              </a:pathLst>
            </a:custGeom>
            <a:solidFill>
              <a:srgbClr val="5E1024"/>
            </a:solidFill>
          </p:spPr>
        </p:sp>
      </p:grpSp>
      <p:sp>
        <p:nvSpPr>
          <p:cNvPr name="TextBox 6" id="6"/>
          <p:cNvSpPr txBox="true"/>
          <p:nvPr/>
        </p:nvSpPr>
        <p:spPr>
          <a:xfrm rot="0">
            <a:off x="1599628" y="2776128"/>
            <a:ext cx="15102440" cy="1906829"/>
          </a:xfrm>
          <a:prstGeom prst="rect">
            <a:avLst/>
          </a:prstGeom>
        </p:spPr>
        <p:txBody>
          <a:bodyPr anchor="t" rtlCol="false" tIns="0" lIns="0" bIns="0" rIns="0">
            <a:spAutoFit/>
          </a:bodyPr>
          <a:lstStyle/>
          <a:p>
            <a:pPr algn="ctr">
              <a:lnSpc>
                <a:spcPts val="13863"/>
              </a:lnSpc>
            </a:pPr>
            <a:r>
              <a:rPr lang="en-US" sz="11107" b="true">
                <a:solidFill>
                  <a:srgbClr val="C9A227"/>
                </a:solidFill>
                <a:latin typeface="Crimson Pro Bold"/>
                <a:ea typeface="Crimson Pro Bold"/>
                <a:cs typeface="Crimson Pro Bold"/>
                <a:sym typeface="Crimson Pro Bold"/>
              </a:rPr>
              <a:t>Thank You</a:t>
            </a:r>
          </a:p>
        </p:txBody>
      </p:sp>
      <p:sp>
        <p:nvSpPr>
          <p:cNvPr name="TextBox 7" id="7"/>
          <p:cNvSpPr txBox="true"/>
          <p:nvPr/>
        </p:nvSpPr>
        <p:spPr>
          <a:xfrm rot="0">
            <a:off x="992991" y="5098037"/>
            <a:ext cx="16315868" cy="1514351"/>
          </a:xfrm>
          <a:prstGeom prst="rect">
            <a:avLst/>
          </a:prstGeom>
        </p:spPr>
        <p:txBody>
          <a:bodyPr anchor="t" rtlCol="false" tIns="0" lIns="0" bIns="0" rIns="0">
            <a:spAutoFit/>
          </a:bodyPr>
          <a:lstStyle/>
          <a:p>
            <a:pPr algn="l">
              <a:lnSpc>
                <a:spcPts val="3474"/>
              </a:lnSpc>
            </a:pPr>
            <a:r>
              <a:rPr lang="en-US" sz="2176">
                <a:solidFill>
                  <a:srgbClr val="FFFFFF"/>
                </a:solidFill>
                <a:latin typeface="Open Sans"/>
                <a:ea typeface="Open Sans"/>
                <a:cs typeface="Open Sans"/>
                <a:sym typeface="Open Sans"/>
              </a:rPr>
              <a:t>We extend our sincere gratitude to our mentors, coordinators, and everyone who supported us throughout this project. We hope this presentation has offered valuable insights into the practical applications of machine learning in wine quality prediction.</a:t>
            </a:r>
          </a:p>
        </p:txBody>
      </p:sp>
      <p:sp>
        <p:nvSpPr>
          <p:cNvPr name="TextBox 8" id="8"/>
          <p:cNvSpPr txBox="true"/>
          <p:nvPr/>
        </p:nvSpPr>
        <p:spPr>
          <a:xfrm rot="0">
            <a:off x="992991" y="6779181"/>
            <a:ext cx="17230954" cy="606381"/>
          </a:xfrm>
          <a:prstGeom prst="rect">
            <a:avLst/>
          </a:prstGeom>
        </p:spPr>
        <p:txBody>
          <a:bodyPr anchor="t" rtlCol="false" tIns="0" lIns="0" bIns="0" rIns="0">
            <a:spAutoFit/>
          </a:bodyPr>
          <a:lstStyle/>
          <a:p>
            <a:pPr algn="l">
              <a:lnSpc>
                <a:spcPts val="3474"/>
              </a:lnSpc>
            </a:pPr>
            <a:r>
              <a:rPr lang="en-US" sz="2176">
                <a:solidFill>
                  <a:srgbClr val="FFFFFF"/>
                </a:solidFill>
                <a:latin typeface="Open Sans"/>
                <a:ea typeface="Open Sans"/>
                <a:cs typeface="Open Sans"/>
                <a:sym typeface="Open Sans"/>
              </a:rPr>
              <a:t>Thank you for your valuable time and attention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DAHNmZS-hmA</dc:identifier>
  <dcterms:modified xsi:type="dcterms:W3CDTF">2011-08-01T06:04:30Z</dcterms:modified>
  <cp:revision>1</cp:revision>
  <dc:title>Wine Quality Presentation.pptx</dc:title>
</cp:coreProperties>
</file>